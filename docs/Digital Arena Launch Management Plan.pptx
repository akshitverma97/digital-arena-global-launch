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Poppins Bold" charset="1" panose="00000800000000000000"/>
      <p:regular r:id="rId33"/>
    </p:embeddedFont>
    <p:embeddedFont>
      <p:font typeface="Poppins" charset="1" panose="00000500000000000000"/>
      <p:regular r:id="rId34"/>
    </p:embeddedFont>
    <p:embeddedFont>
      <p:font typeface="Lato" charset="1" panose="020F0502020204030203"/>
      <p:regular r:id="rId35"/>
    </p:embeddedFont>
    <p:embeddedFont>
      <p:font typeface="Lato Bold" charset="1" panose="020F0502020204030203"/>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notesMasters/notesMaster1.xml" Type="http://schemas.openxmlformats.org/officeDocument/2006/relationships/notesMaster"/><Relationship Id="rId37" Target="theme/theme2.xml" Type="http://schemas.openxmlformats.org/officeDocument/2006/relationships/theme"/><Relationship Id="rId38" Target="notesSlides/notesSlide1.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Please choose a name for your group and include it in the submission. Also, please explain where are you requesting the funds from? A bank? Investors?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3912911" y="3703372"/>
            <a:ext cx="17259300" cy="2880256"/>
          </a:xfrm>
          <a:prstGeom prst="rect">
            <a:avLst/>
          </a:prstGeom>
        </p:spPr>
        <p:txBody>
          <a:bodyPr anchor="t" rtlCol="false" tIns="0" lIns="0" bIns="0" rIns="0">
            <a:spAutoFit/>
          </a:bodyPr>
          <a:lstStyle/>
          <a:p>
            <a:pPr algn="l">
              <a:lnSpc>
                <a:spcPts val="10871"/>
              </a:lnSpc>
            </a:pPr>
            <a:r>
              <a:rPr lang="en-US" sz="9882" b="true">
                <a:solidFill>
                  <a:srgbClr val="FBF9F1"/>
                </a:solidFill>
                <a:latin typeface="Poppins Bold"/>
                <a:ea typeface="Poppins Bold"/>
                <a:cs typeface="Poppins Bold"/>
                <a:sym typeface="Poppins Bold"/>
              </a:rPr>
              <a:t>DIGITAL ARENA</a:t>
            </a:r>
          </a:p>
          <a:p>
            <a:pPr algn="l">
              <a:lnSpc>
                <a:spcPts val="10871"/>
              </a:lnSpc>
            </a:pPr>
          </a:p>
        </p:txBody>
      </p:sp>
      <p:sp>
        <p:nvSpPr>
          <p:cNvPr name="TextBox 3" id="3"/>
          <p:cNvSpPr txBox="true"/>
          <p:nvPr/>
        </p:nvSpPr>
        <p:spPr>
          <a:xfrm rot="0">
            <a:off x="1028700" y="7995206"/>
            <a:ext cx="11749588" cy="1128395"/>
          </a:xfrm>
          <a:prstGeom prst="rect">
            <a:avLst/>
          </a:prstGeom>
        </p:spPr>
        <p:txBody>
          <a:bodyPr anchor="t" rtlCol="false" tIns="0" lIns="0" bIns="0" rIns="0">
            <a:spAutoFit/>
          </a:bodyPr>
          <a:lstStyle/>
          <a:p>
            <a:pPr algn="l">
              <a:lnSpc>
                <a:spcPts val="4480"/>
              </a:lnSpc>
              <a:spcBef>
                <a:spcPct val="0"/>
              </a:spcBef>
            </a:pPr>
            <a:r>
              <a:rPr lang="en-US" sz="3200">
                <a:solidFill>
                  <a:srgbClr val="E5E1DA"/>
                </a:solidFill>
                <a:latin typeface="Poppins"/>
                <a:ea typeface="Poppins"/>
                <a:cs typeface="Poppins"/>
                <a:sym typeface="Poppins"/>
              </a:rPr>
              <a:t>Presented by Sokol Ymeraj, Rishi Rajiv, Grant Schweber, Triston Wennersten, Akshit Verma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826681" y="-134597"/>
            <a:ext cx="10576687" cy="10287000"/>
            <a:chOff x="0" y="0"/>
            <a:chExt cx="1455518" cy="1415652"/>
          </a:xfrm>
        </p:grpSpPr>
        <p:sp>
          <p:nvSpPr>
            <p:cNvPr name="Freeform 3" id="3"/>
            <p:cNvSpPr/>
            <p:nvPr/>
          </p:nvSpPr>
          <p:spPr>
            <a:xfrm flipH="false" flipV="false" rot="0">
              <a:off x="0" y="0"/>
              <a:ext cx="1455518" cy="1415652"/>
            </a:xfrm>
            <a:custGeom>
              <a:avLst/>
              <a:gdLst/>
              <a:ahLst/>
              <a:cxnLst/>
              <a:rect r="r" b="b" t="t" l="l"/>
              <a:pathLst>
                <a:path h="1415652" w="1455518">
                  <a:moveTo>
                    <a:pt x="0" y="0"/>
                  </a:moveTo>
                  <a:lnTo>
                    <a:pt x="1455518" y="0"/>
                  </a:lnTo>
                  <a:lnTo>
                    <a:pt x="1455518" y="1415652"/>
                  </a:lnTo>
                  <a:lnTo>
                    <a:pt x="0" y="1415652"/>
                  </a:lnTo>
                  <a:close/>
                </a:path>
              </a:pathLst>
            </a:custGeom>
            <a:blipFill>
              <a:blip r:embed="rId2"/>
              <a:stretch>
                <a:fillRect l="-36454" t="0" r="-36454" b="0"/>
              </a:stretch>
            </a:blipFill>
            <a:ln cap="sq">
              <a:noFill/>
              <a:prstDash val="solid"/>
              <a:miter/>
            </a:ln>
          </p:spPr>
        </p:sp>
      </p:grpSp>
      <p:grpSp>
        <p:nvGrpSpPr>
          <p:cNvPr name="Group 4" id="4"/>
          <p:cNvGrpSpPr/>
          <p:nvPr/>
        </p:nvGrpSpPr>
        <p:grpSpPr>
          <a:xfrm rot="0">
            <a:off x="-626164" y="0"/>
            <a:ext cx="10341894" cy="10432417"/>
            <a:chOff x="0" y="0"/>
            <a:chExt cx="2723791" cy="2747632"/>
          </a:xfrm>
        </p:grpSpPr>
        <p:sp>
          <p:nvSpPr>
            <p:cNvPr name="Freeform 5" id="5"/>
            <p:cNvSpPr/>
            <p:nvPr/>
          </p:nvSpPr>
          <p:spPr>
            <a:xfrm flipH="false" flipV="false" rot="0">
              <a:off x="0" y="0"/>
              <a:ext cx="2723791" cy="2747632"/>
            </a:xfrm>
            <a:custGeom>
              <a:avLst/>
              <a:gdLst/>
              <a:ahLst/>
              <a:cxnLst/>
              <a:rect r="r" b="b" t="t" l="l"/>
              <a:pathLst>
                <a:path h="2747632" w="2723791">
                  <a:moveTo>
                    <a:pt x="14972" y="0"/>
                  </a:moveTo>
                  <a:lnTo>
                    <a:pt x="2708819" y="0"/>
                  </a:lnTo>
                  <a:cubicBezTo>
                    <a:pt x="2717088" y="0"/>
                    <a:pt x="2723791" y="6703"/>
                    <a:pt x="2723791" y="14972"/>
                  </a:cubicBezTo>
                  <a:lnTo>
                    <a:pt x="2723791" y="2732661"/>
                  </a:lnTo>
                  <a:cubicBezTo>
                    <a:pt x="2723791" y="2736631"/>
                    <a:pt x="2722213" y="2740440"/>
                    <a:pt x="2719406" y="2743247"/>
                  </a:cubicBezTo>
                  <a:cubicBezTo>
                    <a:pt x="2716598" y="2746055"/>
                    <a:pt x="2712790" y="2747632"/>
                    <a:pt x="2708819" y="2747632"/>
                  </a:cubicBezTo>
                  <a:lnTo>
                    <a:pt x="14972" y="2747632"/>
                  </a:lnTo>
                  <a:cubicBezTo>
                    <a:pt x="11001" y="2747632"/>
                    <a:pt x="7193" y="2746055"/>
                    <a:pt x="4385" y="2743247"/>
                  </a:cubicBezTo>
                  <a:cubicBezTo>
                    <a:pt x="1577" y="2740440"/>
                    <a:pt x="0" y="2736631"/>
                    <a:pt x="0" y="2732661"/>
                  </a:cubicBezTo>
                  <a:lnTo>
                    <a:pt x="0" y="14972"/>
                  </a:lnTo>
                  <a:cubicBezTo>
                    <a:pt x="0" y="11001"/>
                    <a:pt x="1577" y="7193"/>
                    <a:pt x="4385" y="4385"/>
                  </a:cubicBezTo>
                  <a:cubicBezTo>
                    <a:pt x="7193" y="1577"/>
                    <a:pt x="11001" y="0"/>
                    <a:pt x="14972" y="0"/>
                  </a:cubicBezTo>
                  <a:close/>
                </a:path>
              </a:pathLst>
            </a:custGeom>
            <a:solidFill>
              <a:srgbClr val="000000"/>
            </a:solidFill>
            <a:ln w="38100" cap="sq">
              <a:solidFill>
                <a:srgbClr val="E5E1DA"/>
              </a:solidFill>
              <a:prstDash val="solid"/>
              <a:miter/>
            </a:ln>
          </p:spPr>
        </p:sp>
        <p:sp>
          <p:nvSpPr>
            <p:cNvPr name="TextBox 6" id="6"/>
            <p:cNvSpPr txBox="true"/>
            <p:nvPr/>
          </p:nvSpPr>
          <p:spPr>
            <a:xfrm>
              <a:off x="0" y="-38100"/>
              <a:ext cx="2723791" cy="2785732"/>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0212631" y="378290"/>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648175" y="3302145"/>
            <a:ext cx="8495825" cy="5043254"/>
          </a:xfrm>
          <a:prstGeom prst="rect">
            <a:avLst/>
          </a:prstGeom>
        </p:spPr>
        <p:txBody>
          <a:bodyPr anchor="t" rtlCol="false" tIns="0" lIns="0" bIns="0" rIns="0">
            <a:spAutoFit/>
          </a:bodyPr>
          <a:lstStyle/>
          <a:p>
            <a:pPr algn="l">
              <a:lnSpc>
                <a:spcPts val="4475"/>
              </a:lnSpc>
            </a:pPr>
            <a:r>
              <a:rPr lang="en-US" sz="3196">
                <a:solidFill>
                  <a:srgbClr val="E5E1DA"/>
                </a:solidFill>
                <a:latin typeface="Lato"/>
                <a:ea typeface="Lato"/>
                <a:cs typeface="Lato"/>
                <a:sym typeface="Lato"/>
              </a:rPr>
              <a:t>Digital Arena specializes in live-streaming sports events and supports social media outreach, while also providing tools for skill development across various sports. This technology can widely be utilized in sports across multiple countries. The content can be posted on any social media platform and is valuable for community building.</a:t>
            </a:r>
          </a:p>
          <a:p>
            <a:pPr algn="l">
              <a:lnSpc>
                <a:spcPts val="4475"/>
              </a:lnSpc>
              <a:spcBef>
                <a:spcPct val="0"/>
              </a:spcBef>
            </a:pPr>
          </a:p>
        </p:txBody>
      </p:sp>
      <p:sp>
        <p:nvSpPr>
          <p:cNvPr name="TextBox 9" id="9"/>
          <p:cNvSpPr txBox="true"/>
          <p:nvPr/>
        </p:nvSpPr>
        <p:spPr>
          <a:xfrm rot="0">
            <a:off x="648175" y="1836952"/>
            <a:ext cx="7724016" cy="793464"/>
          </a:xfrm>
          <a:prstGeom prst="rect">
            <a:avLst/>
          </a:prstGeom>
        </p:spPr>
        <p:txBody>
          <a:bodyPr anchor="t" rtlCol="false" tIns="0" lIns="0" bIns="0" rIns="0">
            <a:spAutoFit/>
          </a:bodyPr>
          <a:lstStyle/>
          <a:p>
            <a:pPr algn="l">
              <a:lnSpc>
                <a:spcPts val="5745"/>
              </a:lnSpc>
            </a:pPr>
            <a:r>
              <a:rPr lang="en-US" sz="5223" b="true">
                <a:solidFill>
                  <a:srgbClr val="FBF9F1"/>
                </a:solidFill>
                <a:latin typeface="Poppins Bold"/>
                <a:ea typeface="Poppins Bold"/>
                <a:cs typeface="Poppins Bold"/>
                <a:sym typeface="Poppins Bold"/>
              </a:rPr>
              <a:t>EXECUTIVE SUMMARY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361880"/>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6733" y="3649300"/>
            <a:ext cx="5927770" cy="17621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VALUE </a:t>
            </a:r>
          </a:p>
          <a:p>
            <a:pPr algn="l">
              <a:lnSpc>
                <a:spcPts val="6600"/>
              </a:lnSpc>
            </a:pPr>
            <a:r>
              <a:rPr lang="en-US" sz="6000" b="true">
                <a:solidFill>
                  <a:srgbClr val="FBF9F1"/>
                </a:solidFill>
                <a:latin typeface="Poppins Bold"/>
                <a:ea typeface="Poppins Bold"/>
                <a:cs typeface="Poppins Bold"/>
                <a:sym typeface="Poppins Bold"/>
              </a:rPr>
              <a:t>PROPOSITION</a:t>
            </a:r>
          </a:p>
        </p:txBody>
      </p:sp>
      <p:sp>
        <p:nvSpPr>
          <p:cNvPr name="TextBox 4" id="4"/>
          <p:cNvSpPr txBox="true"/>
          <p:nvPr/>
        </p:nvSpPr>
        <p:spPr>
          <a:xfrm rot="0">
            <a:off x="6040118" y="694100"/>
            <a:ext cx="11796355" cy="9384927"/>
          </a:xfrm>
          <a:prstGeom prst="rect">
            <a:avLst/>
          </a:prstGeom>
        </p:spPr>
        <p:txBody>
          <a:bodyPr anchor="t" rtlCol="false" tIns="0" lIns="0" bIns="0" rIns="0">
            <a:spAutoFit/>
          </a:bodyPr>
          <a:lstStyle/>
          <a:p>
            <a:pPr algn="l">
              <a:lnSpc>
                <a:spcPts val="4375"/>
              </a:lnSpc>
            </a:pPr>
            <a:r>
              <a:rPr lang="en-US" sz="3125">
                <a:solidFill>
                  <a:srgbClr val="E5E1DA"/>
                </a:solidFill>
                <a:latin typeface="Lato"/>
                <a:ea typeface="Lato"/>
                <a:cs typeface="Lato"/>
                <a:sym typeface="Lato"/>
              </a:rPr>
              <a:t>This is where Digital Arena has its edge in the market. Up till now, you would have had to set up hardware and then use a third-party software package to score, go live and create overlays etc. We have come up with a solution that is simple to use and affordable for everyone. Here are just a few features:</a:t>
            </a:r>
          </a:p>
          <a:p>
            <a:pPr algn="l">
              <a:lnSpc>
                <a:spcPts val="4375"/>
              </a:lnSpc>
            </a:pPr>
          </a:p>
          <a:p>
            <a:pPr algn="l" marL="674702" indent="-337351" lvl="1">
              <a:lnSpc>
                <a:spcPts val="4375"/>
              </a:lnSpc>
              <a:buFont typeface="Arial"/>
              <a:buChar char="•"/>
            </a:pPr>
            <a:r>
              <a:rPr lang="en-US" sz="3125">
                <a:solidFill>
                  <a:srgbClr val="E5E1DA"/>
                </a:solidFill>
                <a:latin typeface="Lato"/>
                <a:ea typeface="Lato"/>
                <a:cs typeface="Lato"/>
                <a:sym typeface="Lato"/>
              </a:rPr>
              <a:t> Cloud Streaming</a:t>
            </a:r>
          </a:p>
          <a:p>
            <a:pPr algn="l" marL="674702" indent="-337351" lvl="1">
              <a:lnSpc>
                <a:spcPts val="4375"/>
              </a:lnSpc>
              <a:buFont typeface="Arial"/>
              <a:buChar char="•"/>
            </a:pPr>
            <a:r>
              <a:rPr lang="en-US" sz="3125">
                <a:solidFill>
                  <a:srgbClr val="E5E1DA"/>
                </a:solidFill>
                <a:latin typeface="Lato"/>
                <a:ea typeface="Lato"/>
                <a:cs typeface="Lato"/>
                <a:sym typeface="Lato"/>
              </a:rPr>
              <a:t> Unlimited Games</a:t>
            </a:r>
          </a:p>
          <a:p>
            <a:pPr algn="l" marL="674702" indent="-337351" lvl="1">
              <a:lnSpc>
                <a:spcPts val="4375"/>
              </a:lnSpc>
              <a:buFont typeface="Arial"/>
              <a:buChar char="•"/>
            </a:pPr>
            <a:r>
              <a:rPr lang="en-US" sz="3125">
                <a:solidFill>
                  <a:srgbClr val="E5E1DA"/>
                </a:solidFill>
                <a:latin typeface="Lato"/>
                <a:ea typeface="Lato"/>
                <a:cs typeface="Lato"/>
                <a:sym typeface="Lato"/>
              </a:rPr>
              <a:t> First Game Free</a:t>
            </a:r>
          </a:p>
          <a:p>
            <a:pPr algn="l" marL="674702" indent="-337351" lvl="1">
              <a:lnSpc>
                <a:spcPts val="4375"/>
              </a:lnSpc>
              <a:buFont typeface="Arial"/>
              <a:buChar char="•"/>
            </a:pPr>
            <a:r>
              <a:rPr lang="en-US" sz="3125">
                <a:solidFill>
                  <a:srgbClr val="E5E1DA"/>
                </a:solidFill>
                <a:latin typeface="Lato"/>
                <a:ea typeface="Lato"/>
                <a:cs typeface="Lato"/>
                <a:sym typeface="Lato"/>
              </a:rPr>
              <a:t> iOS / Android App</a:t>
            </a:r>
          </a:p>
          <a:p>
            <a:pPr algn="l" marL="674702" indent="-337351" lvl="1">
              <a:lnSpc>
                <a:spcPts val="4375"/>
              </a:lnSpc>
              <a:buFont typeface="Arial"/>
              <a:buChar char="•"/>
            </a:pPr>
            <a:r>
              <a:rPr lang="en-US" sz="3125">
                <a:solidFill>
                  <a:srgbClr val="E5E1DA"/>
                </a:solidFill>
                <a:latin typeface="Lato"/>
                <a:ea typeface="Lato"/>
                <a:cs typeface="Lato"/>
                <a:sym typeface="Lato"/>
              </a:rPr>
              <a:t> Streaming Quality upto 4K</a:t>
            </a:r>
          </a:p>
          <a:p>
            <a:pPr algn="l" marL="674702" indent="-337351" lvl="1">
              <a:lnSpc>
                <a:spcPts val="4375"/>
              </a:lnSpc>
              <a:buFont typeface="Arial"/>
              <a:buChar char="•"/>
            </a:pPr>
            <a:r>
              <a:rPr lang="en-US" sz="3125">
                <a:solidFill>
                  <a:srgbClr val="E5E1DA"/>
                </a:solidFill>
                <a:latin typeface="Lato"/>
                <a:ea typeface="Lato"/>
                <a:cs typeface="Lato"/>
                <a:sym typeface="Lato"/>
              </a:rPr>
              <a:t> Scoring Overlays (Provided with clock)</a:t>
            </a:r>
          </a:p>
          <a:p>
            <a:pPr algn="l" marL="674702" indent="-337351" lvl="1">
              <a:lnSpc>
                <a:spcPts val="4375"/>
              </a:lnSpc>
              <a:buFont typeface="Arial"/>
              <a:buChar char="•"/>
            </a:pPr>
            <a:r>
              <a:rPr lang="en-US" sz="3125">
                <a:solidFill>
                  <a:srgbClr val="E5E1DA"/>
                </a:solidFill>
                <a:latin typeface="Lato"/>
                <a:ea typeface="Lato"/>
                <a:cs typeface="Lato"/>
                <a:sym typeface="Lato"/>
              </a:rPr>
              <a:t> Display Streaming Partner/Sponsor logos</a:t>
            </a:r>
          </a:p>
          <a:p>
            <a:pPr algn="l" marL="674702" indent="-337351" lvl="1">
              <a:lnSpc>
                <a:spcPts val="4375"/>
              </a:lnSpc>
              <a:buFont typeface="Arial"/>
              <a:buChar char="•"/>
            </a:pPr>
            <a:r>
              <a:rPr lang="en-US" sz="3125">
                <a:solidFill>
                  <a:srgbClr val="E5E1DA"/>
                </a:solidFill>
                <a:latin typeface="Lato"/>
                <a:ea typeface="Lato"/>
                <a:cs typeface="Lato"/>
                <a:sym typeface="Lato"/>
              </a:rPr>
              <a:t> Generate shareable clips</a:t>
            </a:r>
          </a:p>
          <a:p>
            <a:pPr algn="l" marL="674702" indent="-337351" lvl="1">
              <a:lnSpc>
                <a:spcPts val="4375"/>
              </a:lnSpc>
              <a:buFont typeface="Arial"/>
              <a:buChar char="•"/>
            </a:pPr>
            <a:r>
              <a:rPr lang="en-US" sz="3125">
                <a:solidFill>
                  <a:srgbClr val="E5E1DA"/>
                </a:solidFill>
                <a:latin typeface="Lato"/>
                <a:ea typeface="Lato"/>
                <a:cs typeface="Lato"/>
                <a:sym typeface="Lato"/>
              </a:rPr>
              <a:t> Remote Score</a:t>
            </a:r>
          </a:p>
          <a:p>
            <a:pPr algn="l" marL="674702" indent="-337351" lvl="1">
              <a:lnSpc>
                <a:spcPts val="4375"/>
              </a:lnSpc>
              <a:buFont typeface="Arial"/>
              <a:buChar char="•"/>
            </a:pPr>
            <a:r>
              <a:rPr lang="en-US" sz="3125">
                <a:solidFill>
                  <a:srgbClr val="E5E1DA"/>
                </a:solidFill>
                <a:latin typeface="Lato"/>
                <a:ea typeface="Lato"/>
                <a:cs typeface="Lato"/>
                <a:sym typeface="Lato"/>
              </a:rPr>
              <a:t> 24x7 Support</a:t>
            </a:r>
          </a:p>
          <a:p>
            <a:pPr algn="l">
              <a:lnSpc>
                <a:spcPts val="4375"/>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4597509" y="495584"/>
            <a:ext cx="10059352" cy="9239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FUNDING REQUIREMENT</a:t>
            </a:r>
          </a:p>
        </p:txBody>
      </p:sp>
      <p:sp>
        <p:nvSpPr>
          <p:cNvPr name="TextBox 3" id="3"/>
          <p:cNvSpPr txBox="true"/>
          <p:nvPr/>
        </p:nvSpPr>
        <p:spPr>
          <a:xfrm rot="0">
            <a:off x="4716753" y="2399960"/>
            <a:ext cx="8916624" cy="4934771"/>
          </a:xfrm>
          <a:prstGeom prst="rect">
            <a:avLst/>
          </a:prstGeom>
        </p:spPr>
        <p:txBody>
          <a:bodyPr anchor="t" rtlCol="false" tIns="0" lIns="0" bIns="0" rIns="0">
            <a:spAutoFit/>
          </a:bodyPr>
          <a:lstStyle/>
          <a:p>
            <a:pPr algn="just">
              <a:lnSpc>
                <a:spcPts val="4907"/>
              </a:lnSpc>
            </a:pPr>
          </a:p>
          <a:p>
            <a:pPr algn="just">
              <a:lnSpc>
                <a:spcPts val="4907"/>
              </a:lnSpc>
            </a:pPr>
            <a:r>
              <a:rPr lang="en-US" sz="3505">
                <a:solidFill>
                  <a:srgbClr val="FFFFFF"/>
                </a:solidFill>
                <a:latin typeface="Lato"/>
                <a:ea typeface="Lato"/>
                <a:cs typeface="Lato"/>
                <a:sym typeface="Lato"/>
              </a:rPr>
              <a:t>The $10 million in funding will be allocated across several key areas to ensure Digital Arena can scale efficiently and capture a significant market share. Below is the breakdown and justification of how the funds will be used:</a:t>
            </a:r>
          </a:p>
          <a:p>
            <a:pPr algn="just">
              <a:lnSpc>
                <a:spcPts val="4907"/>
              </a:lnSpc>
              <a:spcBef>
                <a:spcPct val="0"/>
              </a:spcBef>
            </a:pPr>
          </a:p>
        </p:txBody>
      </p:sp>
      <p:sp>
        <p:nvSpPr>
          <p:cNvPr name="TextBox 4" id="4"/>
          <p:cNvSpPr txBox="true"/>
          <p:nvPr/>
        </p:nvSpPr>
        <p:spPr>
          <a:xfrm rot="0">
            <a:off x="3961244" y="7949074"/>
            <a:ext cx="10427643" cy="842645"/>
          </a:xfrm>
          <a:prstGeom prst="rect">
            <a:avLst/>
          </a:prstGeom>
        </p:spPr>
        <p:txBody>
          <a:bodyPr anchor="t" rtlCol="false" tIns="0" lIns="0" bIns="0" rIns="0">
            <a:spAutoFit/>
          </a:bodyPr>
          <a:lstStyle/>
          <a:p>
            <a:pPr algn="ctr">
              <a:lnSpc>
                <a:spcPts val="6580"/>
              </a:lnSpc>
            </a:pPr>
            <a:r>
              <a:rPr lang="en-US" sz="4700" b="true">
                <a:solidFill>
                  <a:srgbClr val="FFFFFF"/>
                </a:solidFill>
                <a:latin typeface="Poppins Bold"/>
                <a:ea typeface="Poppins Bold"/>
                <a:cs typeface="Poppins Bold"/>
                <a:sym typeface="Poppins Bold"/>
              </a:rPr>
              <a:t>Total Funding Request: $10 Million </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115368"/>
            <a:ext cx="6823913" cy="724291"/>
            <a:chOff x="0" y="0"/>
            <a:chExt cx="1797245" cy="190760"/>
          </a:xfrm>
        </p:grpSpPr>
        <p:sp>
          <p:nvSpPr>
            <p:cNvPr name="Freeform 3" id="3"/>
            <p:cNvSpPr/>
            <p:nvPr/>
          </p:nvSpPr>
          <p:spPr>
            <a:xfrm flipH="false" flipV="false" rot="0">
              <a:off x="0" y="0"/>
              <a:ext cx="1797245" cy="190760"/>
            </a:xfrm>
            <a:custGeom>
              <a:avLst/>
              <a:gdLst/>
              <a:ahLst/>
              <a:cxnLst/>
              <a:rect r="r" b="b" t="t" l="l"/>
              <a:pathLst>
                <a:path h="190760" w="1797245">
                  <a:moveTo>
                    <a:pt x="68072" y="0"/>
                  </a:moveTo>
                  <a:lnTo>
                    <a:pt x="1729173" y="0"/>
                  </a:lnTo>
                  <a:cubicBezTo>
                    <a:pt x="1766768" y="0"/>
                    <a:pt x="1797245" y="30477"/>
                    <a:pt x="1797245" y="68072"/>
                  </a:cubicBezTo>
                  <a:lnTo>
                    <a:pt x="1797245" y="122688"/>
                  </a:lnTo>
                  <a:cubicBezTo>
                    <a:pt x="1797245" y="160283"/>
                    <a:pt x="1766768" y="190760"/>
                    <a:pt x="1729173" y="190760"/>
                  </a:cubicBezTo>
                  <a:lnTo>
                    <a:pt x="68072" y="190760"/>
                  </a:lnTo>
                  <a:cubicBezTo>
                    <a:pt x="30477" y="190760"/>
                    <a:pt x="0" y="160283"/>
                    <a:pt x="0" y="122688"/>
                  </a:cubicBezTo>
                  <a:lnTo>
                    <a:pt x="0" y="68072"/>
                  </a:lnTo>
                  <a:cubicBezTo>
                    <a:pt x="0" y="30477"/>
                    <a:pt x="30477" y="0"/>
                    <a:pt x="68072" y="0"/>
                  </a:cubicBezTo>
                  <a:close/>
                </a:path>
              </a:pathLst>
            </a:custGeom>
            <a:solidFill>
              <a:srgbClr val="000000"/>
            </a:solidFill>
            <a:ln w="38100" cap="rnd">
              <a:solidFill>
                <a:srgbClr val="FBF9F1"/>
              </a:solidFill>
              <a:prstDash val="solid"/>
              <a:round/>
            </a:ln>
          </p:spPr>
        </p:sp>
        <p:sp>
          <p:nvSpPr>
            <p:cNvPr name="TextBox 4" id="4"/>
            <p:cNvSpPr txBox="true"/>
            <p:nvPr/>
          </p:nvSpPr>
          <p:spPr>
            <a:xfrm>
              <a:off x="0" y="-38100"/>
              <a:ext cx="1797245" cy="22886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924655"/>
            <a:ext cx="6823913" cy="2138166"/>
            <a:chOff x="0" y="0"/>
            <a:chExt cx="1797245" cy="563138"/>
          </a:xfrm>
        </p:grpSpPr>
        <p:sp>
          <p:nvSpPr>
            <p:cNvPr name="Freeform 6" id="6"/>
            <p:cNvSpPr/>
            <p:nvPr/>
          </p:nvSpPr>
          <p:spPr>
            <a:xfrm flipH="false" flipV="false" rot="0">
              <a:off x="0" y="0"/>
              <a:ext cx="1797245" cy="563138"/>
            </a:xfrm>
            <a:custGeom>
              <a:avLst/>
              <a:gdLst/>
              <a:ahLst/>
              <a:cxnLst/>
              <a:rect r="r" b="b" t="t" l="l"/>
              <a:pathLst>
                <a:path h="563138" w="1797245">
                  <a:moveTo>
                    <a:pt x="22691" y="0"/>
                  </a:moveTo>
                  <a:lnTo>
                    <a:pt x="1774554" y="0"/>
                  </a:lnTo>
                  <a:cubicBezTo>
                    <a:pt x="1787086" y="0"/>
                    <a:pt x="1797245" y="10159"/>
                    <a:pt x="1797245" y="22691"/>
                  </a:cubicBezTo>
                  <a:lnTo>
                    <a:pt x="1797245" y="540448"/>
                  </a:lnTo>
                  <a:cubicBezTo>
                    <a:pt x="1797245" y="552979"/>
                    <a:pt x="1787086" y="563138"/>
                    <a:pt x="1774554" y="563138"/>
                  </a:cubicBezTo>
                  <a:lnTo>
                    <a:pt x="22691" y="563138"/>
                  </a:lnTo>
                  <a:cubicBezTo>
                    <a:pt x="10159" y="563138"/>
                    <a:pt x="0" y="552979"/>
                    <a:pt x="0" y="540448"/>
                  </a:cubicBezTo>
                  <a:lnTo>
                    <a:pt x="0" y="22691"/>
                  </a:lnTo>
                  <a:cubicBezTo>
                    <a:pt x="0" y="10159"/>
                    <a:pt x="10159" y="0"/>
                    <a:pt x="22691" y="0"/>
                  </a:cubicBezTo>
                  <a:close/>
                </a:path>
              </a:pathLst>
            </a:custGeom>
            <a:solidFill>
              <a:srgbClr val="FBF9F1"/>
            </a:solidFill>
            <a:ln w="38100" cap="sq">
              <a:solidFill>
                <a:srgbClr val="FBF9F1"/>
              </a:solidFill>
              <a:prstDash val="solid"/>
              <a:miter/>
            </a:ln>
          </p:spPr>
        </p:sp>
        <p:sp>
          <p:nvSpPr>
            <p:cNvPr name="TextBox 7" id="7"/>
            <p:cNvSpPr txBox="true"/>
            <p:nvPr/>
          </p:nvSpPr>
          <p:spPr>
            <a:xfrm>
              <a:off x="0" y="-38100"/>
              <a:ext cx="1797245" cy="60123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732044" y="3415246"/>
            <a:ext cx="6823913" cy="734885"/>
            <a:chOff x="0" y="0"/>
            <a:chExt cx="1797245" cy="193550"/>
          </a:xfrm>
        </p:grpSpPr>
        <p:sp>
          <p:nvSpPr>
            <p:cNvPr name="Freeform 9" id="9"/>
            <p:cNvSpPr/>
            <p:nvPr/>
          </p:nvSpPr>
          <p:spPr>
            <a:xfrm flipH="false" flipV="false" rot="0">
              <a:off x="0" y="0"/>
              <a:ext cx="1797245" cy="193550"/>
            </a:xfrm>
            <a:custGeom>
              <a:avLst/>
              <a:gdLst/>
              <a:ahLst/>
              <a:cxnLst/>
              <a:rect r="r" b="b" t="t" l="l"/>
              <a:pathLst>
                <a:path h="193550" w="1797245">
                  <a:moveTo>
                    <a:pt x="68072" y="0"/>
                  </a:moveTo>
                  <a:lnTo>
                    <a:pt x="1729173" y="0"/>
                  </a:lnTo>
                  <a:cubicBezTo>
                    <a:pt x="1766768" y="0"/>
                    <a:pt x="1797245" y="30477"/>
                    <a:pt x="1797245" y="68072"/>
                  </a:cubicBezTo>
                  <a:lnTo>
                    <a:pt x="1797245" y="125478"/>
                  </a:lnTo>
                  <a:cubicBezTo>
                    <a:pt x="1797245" y="163073"/>
                    <a:pt x="1766768" y="193550"/>
                    <a:pt x="1729173" y="193550"/>
                  </a:cubicBezTo>
                  <a:lnTo>
                    <a:pt x="68072" y="193550"/>
                  </a:lnTo>
                  <a:cubicBezTo>
                    <a:pt x="30477" y="193550"/>
                    <a:pt x="0" y="163073"/>
                    <a:pt x="0" y="125478"/>
                  </a:cubicBezTo>
                  <a:lnTo>
                    <a:pt x="0" y="68072"/>
                  </a:lnTo>
                  <a:cubicBezTo>
                    <a:pt x="0" y="30477"/>
                    <a:pt x="30477" y="0"/>
                    <a:pt x="68072" y="0"/>
                  </a:cubicBezTo>
                  <a:close/>
                </a:path>
              </a:pathLst>
            </a:custGeom>
            <a:solidFill>
              <a:srgbClr val="000000"/>
            </a:solidFill>
            <a:ln w="38100" cap="rnd">
              <a:solidFill>
                <a:srgbClr val="FFD944"/>
              </a:solidFill>
              <a:prstDash val="solid"/>
              <a:round/>
            </a:ln>
          </p:spPr>
        </p:sp>
        <p:sp>
          <p:nvSpPr>
            <p:cNvPr name="TextBox 10" id="10"/>
            <p:cNvSpPr txBox="true"/>
            <p:nvPr/>
          </p:nvSpPr>
          <p:spPr>
            <a:xfrm>
              <a:off x="0" y="-38100"/>
              <a:ext cx="1797245" cy="2316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4953307" y="4323327"/>
            <a:ext cx="8381387" cy="2150512"/>
            <a:chOff x="0" y="0"/>
            <a:chExt cx="2207443" cy="566390"/>
          </a:xfrm>
        </p:grpSpPr>
        <p:sp>
          <p:nvSpPr>
            <p:cNvPr name="Freeform 12" id="12"/>
            <p:cNvSpPr/>
            <p:nvPr/>
          </p:nvSpPr>
          <p:spPr>
            <a:xfrm flipH="false" flipV="false" rot="0">
              <a:off x="0" y="0"/>
              <a:ext cx="2207443" cy="566390"/>
            </a:xfrm>
            <a:custGeom>
              <a:avLst/>
              <a:gdLst/>
              <a:ahLst/>
              <a:cxnLst/>
              <a:rect r="r" b="b" t="t" l="l"/>
              <a:pathLst>
                <a:path h="566390" w="2207443">
                  <a:moveTo>
                    <a:pt x="18474" y="0"/>
                  </a:moveTo>
                  <a:lnTo>
                    <a:pt x="2188969" y="0"/>
                  </a:lnTo>
                  <a:cubicBezTo>
                    <a:pt x="2193869" y="0"/>
                    <a:pt x="2198568" y="1946"/>
                    <a:pt x="2202032" y="5411"/>
                  </a:cubicBezTo>
                  <a:cubicBezTo>
                    <a:pt x="2205497" y="8875"/>
                    <a:pt x="2207443" y="13574"/>
                    <a:pt x="2207443" y="18474"/>
                  </a:cubicBezTo>
                  <a:lnTo>
                    <a:pt x="2207443" y="547916"/>
                  </a:lnTo>
                  <a:cubicBezTo>
                    <a:pt x="2207443" y="558119"/>
                    <a:pt x="2199172" y="566390"/>
                    <a:pt x="2188969" y="566390"/>
                  </a:cubicBezTo>
                  <a:lnTo>
                    <a:pt x="18474" y="566390"/>
                  </a:lnTo>
                  <a:cubicBezTo>
                    <a:pt x="8271" y="566390"/>
                    <a:pt x="0" y="558119"/>
                    <a:pt x="0" y="547916"/>
                  </a:cubicBezTo>
                  <a:lnTo>
                    <a:pt x="0" y="18474"/>
                  </a:lnTo>
                  <a:cubicBezTo>
                    <a:pt x="0" y="8271"/>
                    <a:pt x="8271" y="0"/>
                    <a:pt x="18474" y="0"/>
                  </a:cubicBezTo>
                  <a:close/>
                </a:path>
              </a:pathLst>
            </a:custGeom>
            <a:solidFill>
              <a:srgbClr val="FFD944"/>
            </a:solidFill>
            <a:ln w="38100" cap="sq">
              <a:solidFill>
                <a:srgbClr val="FFD944"/>
              </a:solidFill>
              <a:prstDash val="solid"/>
              <a:miter/>
            </a:ln>
          </p:spPr>
        </p:sp>
        <p:sp>
          <p:nvSpPr>
            <p:cNvPr name="TextBox 13" id="13"/>
            <p:cNvSpPr txBox="true"/>
            <p:nvPr/>
          </p:nvSpPr>
          <p:spPr>
            <a:xfrm>
              <a:off x="0" y="-38100"/>
              <a:ext cx="2207443" cy="60449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235575" y="6826264"/>
            <a:ext cx="6823913" cy="704545"/>
            <a:chOff x="0" y="0"/>
            <a:chExt cx="1797245" cy="185559"/>
          </a:xfrm>
        </p:grpSpPr>
        <p:sp>
          <p:nvSpPr>
            <p:cNvPr name="Freeform 15" id="15"/>
            <p:cNvSpPr/>
            <p:nvPr/>
          </p:nvSpPr>
          <p:spPr>
            <a:xfrm flipH="false" flipV="false" rot="0">
              <a:off x="0" y="0"/>
              <a:ext cx="1797245" cy="185559"/>
            </a:xfrm>
            <a:custGeom>
              <a:avLst/>
              <a:gdLst/>
              <a:ahLst/>
              <a:cxnLst/>
              <a:rect r="r" b="b" t="t" l="l"/>
              <a:pathLst>
                <a:path h="185559" w="1797245">
                  <a:moveTo>
                    <a:pt x="68072" y="0"/>
                  </a:moveTo>
                  <a:lnTo>
                    <a:pt x="1729173" y="0"/>
                  </a:lnTo>
                  <a:cubicBezTo>
                    <a:pt x="1766768" y="0"/>
                    <a:pt x="1797245" y="30477"/>
                    <a:pt x="1797245" y="68072"/>
                  </a:cubicBezTo>
                  <a:lnTo>
                    <a:pt x="1797245" y="117488"/>
                  </a:lnTo>
                  <a:cubicBezTo>
                    <a:pt x="1797245" y="155083"/>
                    <a:pt x="1766768" y="185559"/>
                    <a:pt x="1729173" y="185559"/>
                  </a:cubicBezTo>
                  <a:lnTo>
                    <a:pt x="68072" y="185559"/>
                  </a:lnTo>
                  <a:cubicBezTo>
                    <a:pt x="30477" y="185559"/>
                    <a:pt x="0" y="155083"/>
                    <a:pt x="0" y="117488"/>
                  </a:cubicBezTo>
                  <a:lnTo>
                    <a:pt x="0" y="68072"/>
                  </a:lnTo>
                  <a:cubicBezTo>
                    <a:pt x="0" y="30477"/>
                    <a:pt x="30477" y="0"/>
                    <a:pt x="68072" y="0"/>
                  </a:cubicBezTo>
                  <a:close/>
                </a:path>
              </a:pathLst>
            </a:custGeom>
            <a:solidFill>
              <a:srgbClr val="000000"/>
            </a:solidFill>
            <a:ln w="38100" cap="rnd">
              <a:solidFill>
                <a:srgbClr val="FBF9F1"/>
              </a:solidFill>
              <a:prstDash val="solid"/>
              <a:round/>
            </a:ln>
          </p:spPr>
        </p:sp>
        <p:sp>
          <p:nvSpPr>
            <p:cNvPr name="TextBox 16" id="16"/>
            <p:cNvSpPr txBox="true"/>
            <p:nvPr/>
          </p:nvSpPr>
          <p:spPr>
            <a:xfrm>
              <a:off x="0" y="-38100"/>
              <a:ext cx="1797245" cy="223659"/>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0" y="7674456"/>
            <a:ext cx="7631492" cy="2612544"/>
            <a:chOff x="0" y="0"/>
            <a:chExt cx="2009940" cy="688077"/>
          </a:xfrm>
        </p:grpSpPr>
        <p:sp>
          <p:nvSpPr>
            <p:cNvPr name="Freeform 18" id="18"/>
            <p:cNvSpPr/>
            <p:nvPr/>
          </p:nvSpPr>
          <p:spPr>
            <a:xfrm flipH="false" flipV="false" rot="0">
              <a:off x="0" y="0"/>
              <a:ext cx="2009940" cy="688077"/>
            </a:xfrm>
            <a:custGeom>
              <a:avLst/>
              <a:gdLst/>
              <a:ahLst/>
              <a:cxnLst/>
              <a:rect r="r" b="b" t="t" l="l"/>
              <a:pathLst>
                <a:path h="688077" w="2009940">
                  <a:moveTo>
                    <a:pt x="20289" y="0"/>
                  </a:moveTo>
                  <a:lnTo>
                    <a:pt x="1989651" y="0"/>
                  </a:lnTo>
                  <a:cubicBezTo>
                    <a:pt x="1995032" y="0"/>
                    <a:pt x="2000193" y="2138"/>
                    <a:pt x="2003998" y="5943"/>
                  </a:cubicBezTo>
                  <a:cubicBezTo>
                    <a:pt x="2007803" y="9748"/>
                    <a:pt x="2009940" y="14908"/>
                    <a:pt x="2009940" y="20289"/>
                  </a:cubicBezTo>
                  <a:lnTo>
                    <a:pt x="2009940" y="667788"/>
                  </a:lnTo>
                  <a:cubicBezTo>
                    <a:pt x="2009940" y="673169"/>
                    <a:pt x="2007803" y="678330"/>
                    <a:pt x="2003998" y="682135"/>
                  </a:cubicBezTo>
                  <a:cubicBezTo>
                    <a:pt x="2000193" y="685940"/>
                    <a:pt x="1995032" y="688077"/>
                    <a:pt x="1989651" y="688077"/>
                  </a:cubicBezTo>
                  <a:lnTo>
                    <a:pt x="20289" y="688077"/>
                  </a:lnTo>
                  <a:cubicBezTo>
                    <a:pt x="14908" y="688077"/>
                    <a:pt x="9748" y="685940"/>
                    <a:pt x="5943" y="682135"/>
                  </a:cubicBezTo>
                  <a:cubicBezTo>
                    <a:pt x="2138" y="678330"/>
                    <a:pt x="0" y="673169"/>
                    <a:pt x="0" y="667788"/>
                  </a:cubicBezTo>
                  <a:lnTo>
                    <a:pt x="0" y="20289"/>
                  </a:lnTo>
                  <a:cubicBezTo>
                    <a:pt x="0" y="14908"/>
                    <a:pt x="2138" y="9748"/>
                    <a:pt x="5943" y="5943"/>
                  </a:cubicBezTo>
                  <a:cubicBezTo>
                    <a:pt x="9748" y="2138"/>
                    <a:pt x="14908" y="0"/>
                    <a:pt x="20289" y="0"/>
                  </a:cubicBezTo>
                  <a:close/>
                </a:path>
              </a:pathLst>
            </a:custGeom>
            <a:solidFill>
              <a:srgbClr val="FBF9F1"/>
            </a:solidFill>
            <a:ln w="38100" cap="sq">
              <a:solidFill>
                <a:srgbClr val="FBF9F1"/>
              </a:solidFill>
              <a:prstDash val="solid"/>
              <a:miter/>
            </a:ln>
          </p:spPr>
        </p:sp>
        <p:sp>
          <p:nvSpPr>
            <p:cNvPr name="TextBox 19" id="19"/>
            <p:cNvSpPr txBox="true"/>
            <p:nvPr/>
          </p:nvSpPr>
          <p:spPr>
            <a:xfrm>
              <a:off x="0" y="-38100"/>
              <a:ext cx="2009940" cy="726177"/>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1464087" y="115368"/>
            <a:ext cx="6823913" cy="724291"/>
            <a:chOff x="0" y="0"/>
            <a:chExt cx="1797245" cy="190760"/>
          </a:xfrm>
        </p:grpSpPr>
        <p:sp>
          <p:nvSpPr>
            <p:cNvPr name="Freeform 21" id="21"/>
            <p:cNvSpPr/>
            <p:nvPr/>
          </p:nvSpPr>
          <p:spPr>
            <a:xfrm flipH="false" flipV="false" rot="0">
              <a:off x="0" y="0"/>
              <a:ext cx="1797245" cy="190760"/>
            </a:xfrm>
            <a:custGeom>
              <a:avLst/>
              <a:gdLst/>
              <a:ahLst/>
              <a:cxnLst/>
              <a:rect r="r" b="b" t="t" l="l"/>
              <a:pathLst>
                <a:path h="190760" w="1797245">
                  <a:moveTo>
                    <a:pt x="68072" y="0"/>
                  </a:moveTo>
                  <a:lnTo>
                    <a:pt x="1729173" y="0"/>
                  </a:lnTo>
                  <a:cubicBezTo>
                    <a:pt x="1766768" y="0"/>
                    <a:pt x="1797245" y="30477"/>
                    <a:pt x="1797245" y="68072"/>
                  </a:cubicBezTo>
                  <a:lnTo>
                    <a:pt x="1797245" y="122688"/>
                  </a:lnTo>
                  <a:cubicBezTo>
                    <a:pt x="1797245" y="160283"/>
                    <a:pt x="1766768" y="190760"/>
                    <a:pt x="1729173" y="190760"/>
                  </a:cubicBezTo>
                  <a:lnTo>
                    <a:pt x="68072" y="190760"/>
                  </a:lnTo>
                  <a:cubicBezTo>
                    <a:pt x="30477" y="190760"/>
                    <a:pt x="0" y="160283"/>
                    <a:pt x="0" y="122688"/>
                  </a:cubicBezTo>
                  <a:lnTo>
                    <a:pt x="0" y="68072"/>
                  </a:lnTo>
                  <a:cubicBezTo>
                    <a:pt x="0" y="30477"/>
                    <a:pt x="30477" y="0"/>
                    <a:pt x="68072" y="0"/>
                  </a:cubicBezTo>
                  <a:close/>
                </a:path>
              </a:pathLst>
            </a:custGeom>
            <a:solidFill>
              <a:srgbClr val="000000"/>
            </a:solidFill>
            <a:ln w="38100" cap="rnd">
              <a:solidFill>
                <a:srgbClr val="FBF9F1"/>
              </a:solidFill>
              <a:prstDash val="solid"/>
              <a:round/>
            </a:ln>
          </p:spPr>
        </p:sp>
        <p:sp>
          <p:nvSpPr>
            <p:cNvPr name="TextBox 22" id="22"/>
            <p:cNvSpPr txBox="true"/>
            <p:nvPr/>
          </p:nvSpPr>
          <p:spPr>
            <a:xfrm>
              <a:off x="0" y="-38100"/>
              <a:ext cx="1797245" cy="22886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0541140" y="7710016"/>
            <a:ext cx="7746860" cy="2576984"/>
            <a:chOff x="0" y="0"/>
            <a:chExt cx="2040325" cy="678712"/>
          </a:xfrm>
        </p:grpSpPr>
        <p:sp>
          <p:nvSpPr>
            <p:cNvPr name="Freeform 24" id="24"/>
            <p:cNvSpPr/>
            <p:nvPr/>
          </p:nvSpPr>
          <p:spPr>
            <a:xfrm flipH="false" flipV="false" rot="0">
              <a:off x="0" y="0"/>
              <a:ext cx="2040325" cy="678712"/>
            </a:xfrm>
            <a:custGeom>
              <a:avLst/>
              <a:gdLst/>
              <a:ahLst/>
              <a:cxnLst/>
              <a:rect r="r" b="b" t="t" l="l"/>
              <a:pathLst>
                <a:path h="678712" w="2040325">
                  <a:moveTo>
                    <a:pt x="19987" y="0"/>
                  </a:moveTo>
                  <a:lnTo>
                    <a:pt x="2020338" y="0"/>
                  </a:lnTo>
                  <a:cubicBezTo>
                    <a:pt x="2025639" y="0"/>
                    <a:pt x="2030723" y="2106"/>
                    <a:pt x="2034471" y="5854"/>
                  </a:cubicBezTo>
                  <a:cubicBezTo>
                    <a:pt x="2038219" y="9602"/>
                    <a:pt x="2040325" y="14686"/>
                    <a:pt x="2040325" y="19987"/>
                  </a:cubicBezTo>
                  <a:lnTo>
                    <a:pt x="2040325" y="658725"/>
                  </a:lnTo>
                  <a:cubicBezTo>
                    <a:pt x="2040325" y="664026"/>
                    <a:pt x="2038219" y="669109"/>
                    <a:pt x="2034471" y="672858"/>
                  </a:cubicBezTo>
                  <a:cubicBezTo>
                    <a:pt x="2030723" y="676606"/>
                    <a:pt x="2025639" y="678712"/>
                    <a:pt x="2020338" y="678712"/>
                  </a:cubicBezTo>
                  <a:lnTo>
                    <a:pt x="19987" y="678712"/>
                  </a:lnTo>
                  <a:cubicBezTo>
                    <a:pt x="8949" y="678712"/>
                    <a:pt x="0" y="669763"/>
                    <a:pt x="0" y="658725"/>
                  </a:cubicBezTo>
                  <a:lnTo>
                    <a:pt x="0" y="19987"/>
                  </a:lnTo>
                  <a:cubicBezTo>
                    <a:pt x="0" y="14686"/>
                    <a:pt x="2106" y="9602"/>
                    <a:pt x="5854" y="5854"/>
                  </a:cubicBezTo>
                  <a:cubicBezTo>
                    <a:pt x="9602" y="2106"/>
                    <a:pt x="14686" y="0"/>
                    <a:pt x="19987" y="0"/>
                  </a:cubicBezTo>
                  <a:close/>
                </a:path>
              </a:pathLst>
            </a:custGeom>
            <a:solidFill>
              <a:srgbClr val="FBF9F1"/>
            </a:solidFill>
            <a:ln w="38100" cap="sq">
              <a:solidFill>
                <a:srgbClr val="FBF9F1"/>
              </a:solidFill>
              <a:prstDash val="solid"/>
              <a:miter/>
            </a:ln>
          </p:spPr>
        </p:sp>
        <p:sp>
          <p:nvSpPr>
            <p:cNvPr name="TextBox 25" id="25"/>
            <p:cNvSpPr txBox="true"/>
            <p:nvPr/>
          </p:nvSpPr>
          <p:spPr>
            <a:xfrm>
              <a:off x="0" y="-38100"/>
              <a:ext cx="2040325" cy="71681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593651" y="276069"/>
            <a:ext cx="6348049" cy="648586"/>
          </a:xfrm>
          <a:prstGeom prst="rect">
            <a:avLst/>
          </a:prstGeom>
        </p:spPr>
        <p:txBody>
          <a:bodyPr anchor="t" rtlCol="false" tIns="0" lIns="0" bIns="0" rIns="0">
            <a:spAutoFit/>
          </a:bodyPr>
          <a:lstStyle/>
          <a:p>
            <a:pPr algn="l">
              <a:lnSpc>
                <a:spcPts val="2996"/>
              </a:lnSpc>
            </a:pPr>
            <a:r>
              <a:rPr lang="en-US" sz="2140" b="true">
                <a:solidFill>
                  <a:srgbClr val="FBF9F1"/>
                </a:solidFill>
                <a:latin typeface="Poppins Bold"/>
                <a:ea typeface="Poppins Bold"/>
                <a:cs typeface="Poppins Bold"/>
                <a:sym typeface="Poppins Bold"/>
              </a:rPr>
              <a:t>TECHNOLOGY DEVELOPMENT– $3 MILLION</a:t>
            </a:r>
          </a:p>
          <a:p>
            <a:pPr algn="l">
              <a:lnSpc>
                <a:spcPts val="2156"/>
              </a:lnSpc>
              <a:spcBef>
                <a:spcPct val="0"/>
              </a:spcBef>
            </a:pPr>
          </a:p>
        </p:txBody>
      </p:sp>
      <p:sp>
        <p:nvSpPr>
          <p:cNvPr name="TextBox 27" id="27"/>
          <p:cNvSpPr txBox="true"/>
          <p:nvPr/>
        </p:nvSpPr>
        <p:spPr>
          <a:xfrm rot="0">
            <a:off x="326238" y="1047331"/>
            <a:ext cx="6348049" cy="2082165"/>
          </a:xfrm>
          <a:prstGeom prst="rect">
            <a:avLst/>
          </a:prstGeom>
        </p:spPr>
        <p:txBody>
          <a:bodyPr anchor="t" rtlCol="false" tIns="0" lIns="0" bIns="0" rIns="0">
            <a:spAutoFit/>
          </a:bodyPr>
          <a:lstStyle/>
          <a:p>
            <a:pPr algn="l">
              <a:lnSpc>
                <a:spcPts val="3359"/>
              </a:lnSpc>
            </a:pPr>
            <a:r>
              <a:rPr lang="en-US" sz="2399">
                <a:solidFill>
                  <a:srgbClr val="000000"/>
                </a:solidFill>
                <a:latin typeface="Lato"/>
                <a:ea typeface="Lato"/>
                <a:cs typeface="Lato"/>
                <a:sym typeface="Lato"/>
              </a:rPr>
              <a:t>To enhance Digital Arena’s Streaming Software by improving features such as streaming quality, user interface, and integrations for more sports and devices.</a:t>
            </a:r>
          </a:p>
          <a:p>
            <a:pPr algn="l">
              <a:lnSpc>
                <a:spcPts val="3359"/>
              </a:lnSpc>
              <a:spcBef>
                <a:spcPct val="0"/>
              </a:spcBef>
            </a:pPr>
          </a:p>
        </p:txBody>
      </p:sp>
      <p:sp>
        <p:nvSpPr>
          <p:cNvPr name="TextBox 28" id="28"/>
          <p:cNvSpPr txBox="true"/>
          <p:nvPr/>
        </p:nvSpPr>
        <p:spPr>
          <a:xfrm rot="0">
            <a:off x="6345552" y="3524497"/>
            <a:ext cx="8988041" cy="798830"/>
          </a:xfrm>
          <a:prstGeom prst="rect">
            <a:avLst/>
          </a:prstGeom>
        </p:spPr>
        <p:txBody>
          <a:bodyPr anchor="t" rtlCol="false" tIns="0" lIns="0" bIns="0" rIns="0">
            <a:spAutoFit/>
          </a:bodyPr>
          <a:lstStyle/>
          <a:p>
            <a:pPr algn="l">
              <a:lnSpc>
                <a:spcPts val="3220"/>
              </a:lnSpc>
            </a:pPr>
            <a:r>
              <a:rPr lang="en-US" sz="2300" b="true">
                <a:solidFill>
                  <a:srgbClr val="FFD944"/>
                </a:solidFill>
                <a:latin typeface="Poppins Bold"/>
                <a:ea typeface="Poppins Bold"/>
                <a:cs typeface="Poppins Bold"/>
                <a:sym typeface="Poppins Bold"/>
              </a:rPr>
              <a:t>⁠PRODUCT DEVELOPMENT – $2 MILLION</a:t>
            </a:r>
          </a:p>
          <a:p>
            <a:pPr algn="l">
              <a:lnSpc>
                <a:spcPts val="3220"/>
              </a:lnSpc>
              <a:spcBef>
                <a:spcPct val="0"/>
              </a:spcBef>
            </a:pPr>
          </a:p>
        </p:txBody>
      </p:sp>
      <p:sp>
        <p:nvSpPr>
          <p:cNvPr name="TextBox 29" id="29"/>
          <p:cNvSpPr txBox="true"/>
          <p:nvPr/>
        </p:nvSpPr>
        <p:spPr>
          <a:xfrm rot="0">
            <a:off x="5476534" y="4551927"/>
            <a:ext cx="7676322" cy="1368580"/>
          </a:xfrm>
          <a:prstGeom prst="rect">
            <a:avLst/>
          </a:prstGeom>
        </p:spPr>
        <p:txBody>
          <a:bodyPr anchor="t" rtlCol="false" tIns="0" lIns="0" bIns="0" rIns="0">
            <a:spAutoFit/>
          </a:bodyPr>
          <a:lstStyle/>
          <a:p>
            <a:pPr algn="l">
              <a:lnSpc>
                <a:spcPts val="3683"/>
              </a:lnSpc>
              <a:spcBef>
                <a:spcPct val="0"/>
              </a:spcBef>
            </a:pPr>
            <a:r>
              <a:rPr lang="en-US" sz="2630">
                <a:solidFill>
                  <a:srgbClr val="000000"/>
                </a:solidFill>
                <a:latin typeface="Lato"/>
                <a:ea typeface="Lato"/>
                <a:cs typeface="Lato"/>
                <a:sym typeface="Lato"/>
              </a:rPr>
              <a:t>Introduce new features like advanced scoring analytics, AI-driven highlights generation and enhanced sponsor integration tools.</a:t>
            </a:r>
          </a:p>
        </p:txBody>
      </p:sp>
      <p:sp>
        <p:nvSpPr>
          <p:cNvPr name="TextBox 30" id="30"/>
          <p:cNvSpPr txBox="true"/>
          <p:nvPr/>
        </p:nvSpPr>
        <p:spPr>
          <a:xfrm rot="0">
            <a:off x="591294" y="6953758"/>
            <a:ext cx="6112474" cy="756258"/>
          </a:xfrm>
          <a:prstGeom prst="rect">
            <a:avLst/>
          </a:prstGeom>
        </p:spPr>
        <p:txBody>
          <a:bodyPr anchor="t" rtlCol="false" tIns="0" lIns="0" bIns="0" rIns="0">
            <a:spAutoFit/>
          </a:bodyPr>
          <a:lstStyle/>
          <a:p>
            <a:pPr algn="l">
              <a:lnSpc>
                <a:spcPts val="2801"/>
              </a:lnSpc>
            </a:pPr>
            <a:r>
              <a:rPr lang="en-US" sz="2001" b="true">
                <a:solidFill>
                  <a:srgbClr val="FBF9F1"/>
                </a:solidFill>
                <a:latin typeface="Poppins Bold"/>
                <a:ea typeface="Poppins Bold"/>
                <a:cs typeface="Poppins Bold"/>
                <a:sym typeface="Poppins Bold"/>
              </a:rPr>
              <a:t>MARKETING &amp; USER ACQUISITION – $2.5 MILLION</a:t>
            </a:r>
          </a:p>
          <a:p>
            <a:pPr algn="l">
              <a:lnSpc>
                <a:spcPts val="3081"/>
              </a:lnSpc>
              <a:spcBef>
                <a:spcPct val="0"/>
              </a:spcBef>
            </a:pPr>
          </a:p>
        </p:txBody>
      </p:sp>
      <p:sp>
        <p:nvSpPr>
          <p:cNvPr name="TextBox 31" id="31"/>
          <p:cNvSpPr txBox="true"/>
          <p:nvPr/>
        </p:nvSpPr>
        <p:spPr>
          <a:xfrm rot="0">
            <a:off x="508015" y="8063328"/>
            <a:ext cx="6615462" cy="1465051"/>
          </a:xfrm>
          <a:prstGeom prst="rect">
            <a:avLst/>
          </a:prstGeom>
        </p:spPr>
        <p:txBody>
          <a:bodyPr anchor="t" rtlCol="false" tIns="0" lIns="0" bIns="0" rIns="0">
            <a:spAutoFit/>
          </a:bodyPr>
          <a:lstStyle/>
          <a:p>
            <a:pPr algn="l">
              <a:lnSpc>
                <a:spcPts val="3954"/>
              </a:lnSpc>
              <a:spcBef>
                <a:spcPct val="0"/>
              </a:spcBef>
            </a:pPr>
            <a:r>
              <a:rPr lang="en-US" sz="2824">
                <a:solidFill>
                  <a:srgbClr val="000000"/>
                </a:solidFill>
                <a:latin typeface="Lato"/>
                <a:ea typeface="Lato"/>
                <a:cs typeface="Lato"/>
                <a:sym typeface="Lato"/>
              </a:rPr>
              <a:t>Build brand awareness, drive customer acquisition, and expand internationally through targeted marketing campaigns.</a:t>
            </a:r>
          </a:p>
        </p:txBody>
      </p:sp>
      <p:sp>
        <p:nvSpPr>
          <p:cNvPr name="TextBox 32" id="32"/>
          <p:cNvSpPr txBox="true"/>
          <p:nvPr/>
        </p:nvSpPr>
        <p:spPr>
          <a:xfrm rot="0">
            <a:off x="11816631" y="273901"/>
            <a:ext cx="6330633" cy="350076"/>
          </a:xfrm>
          <a:prstGeom prst="rect">
            <a:avLst/>
          </a:prstGeom>
        </p:spPr>
        <p:txBody>
          <a:bodyPr anchor="t" rtlCol="false" tIns="0" lIns="0" bIns="0" rIns="0">
            <a:spAutoFit/>
          </a:bodyPr>
          <a:lstStyle/>
          <a:p>
            <a:pPr algn="l">
              <a:lnSpc>
                <a:spcPts val="2754"/>
              </a:lnSpc>
              <a:spcBef>
                <a:spcPct val="0"/>
              </a:spcBef>
            </a:pPr>
            <a:r>
              <a:rPr lang="en-US" b="true" sz="1967">
                <a:solidFill>
                  <a:srgbClr val="FBF9F1"/>
                </a:solidFill>
                <a:latin typeface="Poppins Bold"/>
                <a:ea typeface="Poppins Bold"/>
                <a:cs typeface="Poppins Bold"/>
                <a:sym typeface="Poppins Bold"/>
              </a:rPr>
              <a:t>EXPANSION OF CUSTOMER SUPPORT– $1.5 MILLION</a:t>
            </a:r>
          </a:p>
        </p:txBody>
      </p:sp>
      <p:sp>
        <p:nvSpPr>
          <p:cNvPr name="TextBox 33" id="33"/>
          <p:cNvSpPr txBox="true"/>
          <p:nvPr/>
        </p:nvSpPr>
        <p:spPr>
          <a:xfrm rot="0">
            <a:off x="11100433" y="7987128"/>
            <a:ext cx="7046831" cy="1871142"/>
          </a:xfrm>
          <a:prstGeom prst="rect">
            <a:avLst/>
          </a:prstGeom>
        </p:spPr>
        <p:txBody>
          <a:bodyPr anchor="t" rtlCol="false" tIns="0" lIns="0" bIns="0" rIns="0">
            <a:spAutoFit/>
          </a:bodyPr>
          <a:lstStyle/>
          <a:p>
            <a:pPr algn="l">
              <a:lnSpc>
                <a:spcPts val="3772"/>
              </a:lnSpc>
            </a:pPr>
            <a:r>
              <a:rPr lang="en-US" sz="2694">
                <a:solidFill>
                  <a:srgbClr val="000000"/>
                </a:solidFill>
                <a:latin typeface="Lato"/>
                <a:ea typeface="Lato"/>
                <a:cs typeface="Lato"/>
                <a:sym typeface="Lato"/>
              </a:rPr>
              <a:t>Develop partnerships with sports leagues, educational institutions, and media organizations.</a:t>
            </a:r>
          </a:p>
          <a:p>
            <a:pPr algn="l">
              <a:lnSpc>
                <a:spcPts val="3772"/>
              </a:lnSpc>
              <a:spcBef>
                <a:spcPct val="0"/>
              </a:spcBef>
            </a:pPr>
          </a:p>
        </p:txBody>
      </p:sp>
      <p:grpSp>
        <p:nvGrpSpPr>
          <p:cNvPr name="Group 34" id="34"/>
          <p:cNvGrpSpPr/>
          <p:nvPr/>
        </p:nvGrpSpPr>
        <p:grpSpPr>
          <a:xfrm rot="0">
            <a:off x="11464087" y="924655"/>
            <a:ext cx="6823913" cy="2112056"/>
            <a:chOff x="0" y="0"/>
            <a:chExt cx="1797245" cy="556262"/>
          </a:xfrm>
        </p:grpSpPr>
        <p:sp>
          <p:nvSpPr>
            <p:cNvPr name="Freeform 35" id="35"/>
            <p:cNvSpPr/>
            <p:nvPr/>
          </p:nvSpPr>
          <p:spPr>
            <a:xfrm flipH="false" flipV="false" rot="0">
              <a:off x="0" y="0"/>
              <a:ext cx="1797245" cy="556262"/>
            </a:xfrm>
            <a:custGeom>
              <a:avLst/>
              <a:gdLst/>
              <a:ahLst/>
              <a:cxnLst/>
              <a:rect r="r" b="b" t="t" l="l"/>
              <a:pathLst>
                <a:path h="556262" w="1797245">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BF9F1"/>
            </a:solidFill>
            <a:ln w="38100" cap="sq">
              <a:solidFill>
                <a:srgbClr val="FBF9F1"/>
              </a:solidFill>
              <a:prstDash val="solid"/>
              <a:miter/>
            </a:ln>
          </p:spPr>
        </p:sp>
        <p:sp>
          <p:nvSpPr>
            <p:cNvPr name="TextBox 36" id="36"/>
            <p:cNvSpPr txBox="true"/>
            <p:nvPr/>
          </p:nvSpPr>
          <p:spPr>
            <a:xfrm>
              <a:off x="0" y="-38100"/>
              <a:ext cx="1797245" cy="594362"/>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1065993" y="6730132"/>
            <a:ext cx="6975367" cy="761695"/>
            <a:chOff x="0" y="0"/>
            <a:chExt cx="1837134" cy="200611"/>
          </a:xfrm>
        </p:grpSpPr>
        <p:sp>
          <p:nvSpPr>
            <p:cNvPr name="Freeform 38" id="38"/>
            <p:cNvSpPr/>
            <p:nvPr/>
          </p:nvSpPr>
          <p:spPr>
            <a:xfrm flipH="false" flipV="false" rot="0">
              <a:off x="0" y="0"/>
              <a:ext cx="1837134" cy="200611"/>
            </a:xfrm>
            <a:custGeom>
              <a:avLst/>
              <a:gdLst/>
              <a:ahLst/>
              <a:cxnLst/>
              <a:rect r="r" b="b" t="t" l="l"/>
              <a:pathLst>
                <a:path h="200611" w="1837134">
                  <a:moveTo>
                    <a:pt x="66594" y="0"/>
                  </a:moveTo>
                  <a:lnTo>
                    <a:pt x="1770540" y="0"/>
                  </a:lnTo>
                  <a:cubicBezTo>
                    <a:pt x="1807319" y="0"/>
                    <a:pt x="1837134" y="29815"/>
                    <a:pt x="1837134" y="66594"/>
                  </a:cubicBezTo>
                  <a:lnTo>
                    <a:pt x="1837134" y="134017"/>
                  </a:lnTo>
                  <a:cubicBezTo>
                    <a:pt x="1837134" y="170796"/>
                    <a:pt x="1807319" y="200611"/>
                    <a:pt x="1770540" y="200611"/>
                  </a:cubicBezTo>
                  <a:lnTo>
                    <a:pt x="66594" y="200611"/>
                  </a:lnTo>
                  <a:cubicBezTo>
                    <a:pt x="48932" y="200611"/>
                    <a:pt x="31994" y="193595"/>
                    <a:pt x="19505" y="181106"/>
                  </a:cubicBezTo>
                  <a:cubicBezTo>
                    <a:pt x="7016" y="168618"/>
                    <a:pt x="0" y="151679"/>
                    <a:pt x="0" y="134017"/>
                  </a:cubicBezTo>
                  <a:lnTo>
                    <a:pt x="0" y="66594"/>
                  </a:lnTo>
                  <a:cubicBezTo>
                    <a:pt x="0" y="29815"/>
                    <a:pt x="29815" y="0"/>
                    <a:pt x="66594" y="0"/>
                  </a:cubicBezTo>
                  <a:close/>
                </a:path>
              </a:pathLst>
            </a:custGeom>
            <a:solidFill>
              <a:srgbClr val="000000"/>
            </a:solidFill>
            <a:ln w="38100" cap="rnd">
              <a:solidFill>
                <a:srgbClr val="FBF9F1"/>
              </a:solidFill>
              <a:prstDash val="solid"/>
              <a:round/>
            </a:ln>
          </p:spPr>
        </p:sp>
        <p:sp>
          <p:nvSpPr>
            <p:cNvPr name="TextBox 39" id="39"/>
            <p:cNvSpPr txBox="true"/>
            <p:nvPr/>
          </p:nvSpPr>
          <p:spPr>
            <a:xfrm>
              <a:off x="0" y="-38100"/>
              <a:ext cx="1837134" cy="238711"/>
            </a:xfrm>
            <a:prstGeom prst="rect">
              <a:avLst/>
            </a:prstGeom>
          </p:spPr>
          <p:txBody>
            <a:bodyPr anchor="ctr" rtlCol="false" tIns="50800" lIns="50800" bIns="50800" rIns="50800"/>
            <a:lstStyle/>
            <a:p>
              <a:pPr algn="ctr">
                <a:lnSpc>
                  <a:spcPts val="2659"/>
                </a:lnSpc>
              </a:pPr>
            </a:p>
          </p:txBody>
        </p:sp>
      </p:grpSp>
      <p:sp>
        <p:nvSpPr>
          <p:cNvPr name="TextBox 40" id="40"/>
          <p:cNvSpPr txBox="true"/>
          <p:nvPr/>
        </p:nvSpPr>
        <p:spPr>
          <a:xfrm rot="0">
            <a:off x="11816631" y="1125338"/>
            <a:ext cx="6224729" cy="1663065"/>
          </a:xfrm>
          <a:prstGeom prst="rect">
            <a:avLst/>
          </a:prstGeom>
        </p:spPr>
        <p:txBody>
          <a:bodyPr anchor="t" rtlCol="false" tIns="0" lIns="0" bIns="0" rIns="0">
            <a:spAutoFit/>
          </a:bodyPr>
          <a:lstStyle/>
          <a:p>
            <a:pPr algn="l">
              <a:lnSpc>
                <a:spcPts val="3359"/>
              </a:lnSpc>
            </a:pPr>
            <a:r>
              <a:rPr lang="en-US" sz="2399">
                <a:solidFill>
                  <a:srgbClr val="000000"/>
                </a:solidFill>
                <a:latin typeface="Lato"/>
                <a:ea typeface="Lato"/>
                <a:cs typeface="Lato"/>
                <a:sym typeface="Lato"/>
              </a:rPr>
              <a:t>Build a scalable 24x7 customer support team and improve operational capacity to handle a growing user base.</a:t>
            </a:r>
          </a:p>
          <a:p>
            <a:pPr algn="l">
              <a:lnSpc>
                <a:spcPts val="3359"/>
              </a:lnSpc>
              <a:spcBef>
                <a:spcPct val="0"/>
              </a:spcBef>
            </a:pPr>
          </a:p>
        </p:txBody>
      </p:sp>
      <p:sp>
        <p:nvSpPr>
          <p:cNvPr name="TextBox 41" id="41"/>
          <p:cNvSpPr txBox="true"/>
          <p:nvPr/>
        </p:nvSpPr>
        <p:spPr>
          <a:xfrm rot="0">
            <a:off x="11464087" y="6911258"/>
            <a:ext cx="6577273" cy="342295"/>
          </a:xfrm>
          <a:prstGeom prst="rect">
            <a:avLst/>
          </a:prstGeom>
        </p:spPr>
        <p:txBody>
          <a:bodyPr anchor="t" rtlCol="false" tIns="0" lIns="0" bIns="0" rIns="0">
            <a:spAutoFit/>
          </a:bodyPr>
          <a:lstStyle/>
          <a:p>
            <a:pPr algn="l">
              <a:lnSpc>
                <a:spcPts val="2658"/>
              </a:lnSpc>
              <a:spcBef>
                <a:spcPct val="0"/>
              </a:spcBef>
            </a:pPr>
            <a:r>
              <a:rPr lang="en-US" b="true" sz="1898">
                <a:solidFill>
                  <a:srgbClr val="FBF9F1"/>
                </a:solidFill>
                <a:latin typeface="Poppins Bold"/>
                <a:ea typeface="Poppins Bold"/>
                <a:cs typeface="Poppins Bold"/>
                <a:sym typeface="Poppins Bold"/>
              </a:rPr>
              <a:t>PARTNERSHIPS &amp; STRATEGIC ALLIANCES – $1 MILLION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1726001" y="2482193"/>
            <a:ext cx="6283723" cy="5861000"/>
          </a:xfrm>
          <a:custGeom>
            <a:avLst/>
            <a:gdLst/>
            <a:ahLst/>
            <a:cxnLst/>
            <a:rect r="r" b="b" t="t" l="l"/>
            <a:pathLst>
              <a:path h="5861000" w="6283723">
                <a:moveTo>
                  <a:pt x="0" y="0"/>
                </a:moveTo>
                <a:lnTo>
                  <a:pt x="6283723" y="0"/>
                </a:lnTo>
                <a:lnTo>
                  <a:pt x="6283723" y="5861000"/>
                </a:lnTo>
                <a:lnTo>
                  <a:pt x="0" y="5861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00729" y="1915410"/>
            <a:ext cx="10738837" cy="7547803"/>
          </a:xfrm>
          <a:prstGeom prst="rect">
            <a:avLst/>
          </a:prstGeom>
        </p:spPr>
        <p:txBody>
          <a:bodyPr anchor="t" rtlCol="false" tIns="0" lIns="0" bIns="0" rIns="0">
            <a:spAutoFit/>
          </a:bodyPr>
          <a:lstStyle/>
          <a:p>
            <a:pPr algn="l">
              <a:lnSpc>
                <a:spcPts val="3979"/>
              </a:lnSpc>
              <a:spcBef>
                <a:spcPct val="0"/>
              </a:spcBef>
            </a:pPr>
            <a:r>
              <a:rPr lang="en-US" sz="2842">
                <a:solidFill>
                  <a:srgbClr val="E5E1DA"/>
                </a:solidFill>
                <a:latin typeface="Lato"/>
                <a:ea typeface="Lato"/>
                <a:cs typeface="Lato"/>
                <a:sym typeface="Lato"/>
              </a:rPr>
              <a:t>Digital Arena is poised to capitalize on the global sports streaming market, projected to exceed $80 billion by 2026. Its cloud-based platform removes geographical barriers, making it accessible for professional and grassroots sports organizations worldwide. Digital Arena targets emerging markets in Asia, Africa, and Latin America, where sports participation is rising but broadcasting infrastructure is limited, offering low-cost solutions for underserved regions with growing mobile penetration. In established markets like North America and Europe, Digital Arena provides smaller leagues, schools, and semi-pro teams with affordable streaming and sponsor integration tools. Global partnerships with sports leagues, educational institutions, and media companies will drive adoption, while $10 million in funding will support localization, partnerships, and market expansion, positioning Digital Arena to capture a substantial share of the growing global sports streaming industry.</a:t>
            </a:r>
          </a:p>
        </p:txBody>
      </p:sp>
      <p:sp>
        <p:nvSpPr>
          <p:cNvPr name="TextBox 4" id="4"/>
          <p:cNvSpPr txBox="true"/>
          <p:nvPr/>
        </p:nvSpPr>
        <p:spPr>
          <a:xfrm rot="0">
            <a:off x="5500028" y="235098"/>
            <a:ext cx="6578267" cy="9239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GLOBAL ELEMENT</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444058" y="420477"/>
            <a:ext cx="15236835" cy="1024635"/>
            <a:chOff x="0" y="0"/>
            <a:chExt cx="4012994" cy="269863"/>
          </a:xfrm>
        </p:grpSpPr>
        <p:sp>
          <p:nvSpPr>
            <p:cNvPr name="Freeform 3" id="3"/>
            <p:cNvSpPr/>
            <p:nvPr/>
          </p:nvSpPr>
          <p:spPr>
            <a:xfrm flipH="false" flipV="false" rot="0">
              <a:off x="0" y="0"/>
              <a:ext cx="4012994" cy="269863"/>
            </a:xfrm>
            <a:custGeom>
              <a:avLst/>
              <a:gdLst/>
              <a:ahLst/>
              <a:cxnLst/>
              <a:rect r="r" b="b" t="t" l="l"/>
              <a:pathLst>
                <a:path h="269863" w="4012994">
                  <a:moveTo>
                    <a:pt x="30486" y="0"/>
                  </a:moveTo>
                  <a:lnTo>
                    <a:pt x="3982507" y="0"/>
                  </a:lnTo>
                  <a:cubicBezTo>
                    <a:pt x="3990593" y="0"/>
                    <a:pt x="3998347" y="3212"/>
                    <a:pt x="4004065" y="8929"/>
                  </a:cubicBezTo>
                  <a:cubicBezTo>
                    <a:pt x="4009782" y="14647"/>
                    <a:pt x="4012994" y="22401"/>
                    <a:pt x="4012994" y="30486"/>
                  </a:cubicBezTo>
                  <a:lnTo>
                    <a:pt x="4012994" y="239376"/>
                  </a:lnTo>
                  <a:cubicBezTo>
                    <a:pt x="4012994" y="247462"/>
                    <a:pt x="4009782" y="255216"/>
                    <a:pt x="4004065" y="260934"/>
                  </a:cubicBezTo>
                  <a:cubicBezTo>
                    <a:pt x="3998347" y="266651"/>
                    <a:pt x="3990593" y="269863"/>
                    <a:pt x="3982507" y="269863"/>
                  </a:cubicBezTo>
                  <a:lnTo>
                    <a:pt x="30486" y="269863"/>
                  </a:lnTo>
                  <a:cubicBezTo>
                    <a:pt x="13649" y="269863"/>
                    <a:pt x="0" y="256214"/>
                    <a:pt x="0" y="239376"/>
                  </a:cubicBezTo>
                  <a:lnTo>
                    <a:pt x="0" y="30486"/>
                  </a:lnTo>
                  <a:cubicBezTo>
                    <a:pt x="0" y="13649"/>
                    <a:pt x="13649" y="0"/>
                    <a:pt x="30486" y="0"/>
                  </a:cubicBezTo>
                  <a:close/>
                </a:path>
              </a:pathLst>
            </a:custGeom>
            <a:solidFill>
              <a:srgbClr val="000000"/>
            </a:solidFill>
            <a:ln w="38100" cap="rnd">
              <a:solidFill>
                <a:srgbClr val="FBF9F1"/>
              </a:solidFill>
              <a:prstDash val="solid"/>
              <a:round/>
            </a:ln>
          </p:spPr>
        </p:sp>
        <p:sp>
          <p:nvSpPr>
            <p:cNvPr name="TextBox 4" id="4"/>
            <p:cNvSpPr txBox="true"/>
            <p:nvPr/>
          </p:nvSpPr>
          <p:spPr>
            <a:xfrm>
              <a:off x="0" y="-38100"/>
              <a:ext cx="4012994" cy="30796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65652" y="1939705"/>
            <a:ext cx="16393648" cy="7989196"/>
            <a:chOff x="0" y="0"/>
            <a:chExt cx="4317669" cy="2104150"/>
          </a:xfrm>
        </p:grpSpPr>
        <p:sp>
          <p:nvSpPr>
            <p:cNvPr name="Freeform 6" id="6"/>
            <p:cNvSpPr/>
            <p:nvPr/>
          </p:nvSpPr>
          <p:spPr>
            <a:xfrm flipH="false" flipV="false" rot="0">
              <a:off x="0" y="0"/>
              <a:ext cx="4317669" cy="2104150"/>
            </a:xfrm>
            <a:custGeom>
              <a:avLst/>
              <a:gdLst/>
              <a:ahLst/>
              <a:cxnLst/>
              <a:rect r="r" b="b" t="t" l="l"/>
              <a:pathLst>
                <a:path h="2104150" w="4317669">
                  <a:moveTo>
                    <a:pt x="9445" y="0"/>
                  </a:moveTo>
                  <a:lnTo>
                    <a:pt x="4308223" y="0"/>
                  </a:lnTo>
                  <a:cubicBezTo>
                    <a:pt x="4313440" y="0"/>
                    <a:pt x="4317669" y="4229"/>
                    <a:pt x="4317669" y="9445"/>
                  </a:cubicBezTo>
                  <a:lnTo>
                    <a:pt x="4317669" y="2094705"/>
                  </a:lnTo>
                  <a:cubicBezTo>
                    <a:pt x="4317669" y="2097210"/>
                    <a:pt x="4316674" y="2099613"/>
                    <a:pt x="4314902" y="2101384"/>
                  </a:cubicBezTo>
                  <a:cubicBezTo>
                    <a:pt x="4313131" y="2103155"/>
                    <a:pt x="4310729" y="2104150"/>
                    <a:pt x="4308223" y="2104150"/>
                  </a:cubicBezTo>
                  <a:lnTo>
                    <a:pt x="9445" y="2104150"/>
                  </a:lnTo>
                  <a:cubicBezTo>
                    <a:pt x="4229" y="2104150"/>
                    <a:pt x="0" y="2099922"/>
                    <a:pt x="0" y="2094705"/>
                  </a:cubicBezTo>
                  <a:lnTo>
                    <a:pt x="0" y="9445"/>
                  </a:lnTo>
                  <a:cubicBezTo>
                    <a:pt x="0" y="4229"/>
                    <a:pt x="4229" y="0"/>
                    <a:pt x="9445" y="0"/>
                  </a:cubicBezTo>
                  <a:close/>
                </a:path>
              </a:pathLst>
            </a:custGeom>
            <a:solidFill>
              <a:srgbClr val="FBF9F1"/>
            </a:solidFill>
            <a:ln w="38100" cap="sq">
              <a:solidFill>
                <a:srgbClr val="FBF9F1"/>
              </a:solidFill>
              <a:prstDash val="solid"/>
              <a:miter/>
            </a:ln>
          </p:spPr>
        </p:sp>
        <p:sp>
          <p:nvSpPr>
            <p:cNvPr name="TextBox 7" id="7"/>
            <p:cNvSpPr txBox="true"/>
            <p:nvPr/>
          </p:nvSpPr>
          <p:spPr>
            <a:xfrm>
              <a:off x="0" y="-38100"/>
              <a:ext cx="4317669" cy="214225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391979" y="525124"/>
            <a:ext cx="6665953" cy="701041"/>
          </a:xfrm>
          <a:prstGeom prst="rect">
            <a:avLst/>
          </a:prstGeom>
        </p:spPr>
        <p:txBody>
          <a:bodyPr anchor="t" rtlCol="false" tIns="0" lIns="0" bIns="0" rIns="0">
            <a:spAutoFit/>
          </a:bodyPr>
          <a:lstStyle/>
          <a:p>
            <a:pPr algn="l">
              <a:lnSpc>
                <a:spcPts val="5459"/>
              </a:lnSpc>
              <a:spcBef>
                <a:spcPct val="0"/>
              </a:spcBef>
            </a:pPr>
            <a:r>
              <a:rPr lang="en-US" b="true" sz="3899">
                <a:solidFill>
                  <a:srgbClr val="FBF9F1"/>
                </a:solidFill>
                <a:latin typeface="Poppins Bold"/>
                <a:ea typeface="Poppins Bold"/>
                <a:cs typeface="Poppins Bold"/>
                <a:sym typeface="Poppins Bold"/>
              </a:rPr>
              <a:t>PROJECT CHARTER</a:t>
            </a:r>
          </a:p>
        </p:txBody>
      </p:sp>
      <p:sp>
        <p:nvSpPr>
          <p:cNvPr name="TextBox 9" id="9"/>
          <p:cNvSpPr txBox="true"/>
          <p:nvPr/>
        </p:nvSpPr>
        <p:spPr>
          <a:xfrm rot="0">
            <a:off x="947176" y="1882555"/>
            <a:ext cx="16393648" cy="7698898"/>
          </a:xfrm>
          <a:prstGeom prst="rect">
            <a:avLst/>
          </a:prstGeom>
        </p:spPr>
        <p:txBody>
          <a:bodyPr anchor="t" rtlCol="false" tIns="0" lIns="0" bIns="0" rIns="0">
            <a:spAutoFit/>
          </a:bodyPr>
          <a:lstStyle/>
          <a:p>
            <a:pPr algn="l" marL="624768" indent="-312384" lvl="1">
              <a:lnSpc>
                <a:spcPts val="4051"/>
              </a:lnSpc>
              <a:buFont typeface="Arial"/>
              <a:buChar char="•"/>
            </a:pPr>
            <a:r>
              <a:rPr lang="en-US" sz="2893">
                <a:solidFill>
                  <a:srgbClr val="000000"/>
                </a:solidFill>
                <a:latin typeface="Lato"/>
                <a:ea typeface="Lato"/>
                <a:cs typeface="Lato"/>
                <a:sym typeface="Lato"/>
              </a:rPr>
              <a:t>Project Title: Digital Arena</a:t>
            </a:r>
          </a:p>
          <a:p>
            <a:pPr algn="l" marL="624768" indent="-312384" lvl="1">
              <a:lnSpc>
                <a:spcPts val="4051"/>
              </a:lnSpc>
              <a:buFont typeface="Arial"/>
              <a:buChar char="•"/>
            </a:pPr>
            <a:r>
              <a:rPr lang="en-US" sz="2893">
                <a:solidFill>
                  <a:srgbClr val="000000"/>
                </a:solidFill>
                <a:latin typeface="Lato"/>
                <a:ea typeface="Lato"/>
                <a:cs typeface="Lato"/>
                <a:sym typeface="Lato"/>
              </a:rPr>
              <a:t>Project Overview: The Digital Arena project aims to provide a user-friendly, cloud-based solution for live-streaming sports events.</a:t>
            </a:r>
          </a:p>
          <a:p>
            <a:pPr algn="l" marL="624768" indent="-312384" lvl="1">
              <a:lnSpc>
                <a:spcPts val="4051"/>
              </a:lnSpc>
              <a:buFont typeface="Arial"/>
              <a:buChar char="•"/>
            </a:pPr>
            <a:r>
              <a:rPr lang="en-US" sz="2893">
                <a:solidFill>
                  <a:srgbClr val="000000"/>
                </a:solidFill>
                <a:latin typeface="Lato"/>
                <a:ea typeface="Lato"/>
                <a:cs typeface="Lato"/>
                <a:sym typeface="Lato"/>
              </a:rPr>
              <a:t>Purpose and Objectives:</a:t>
            </a:r>
          </a:p>
          <a:p>
            <a:pPr algn="l" marL="1249536" indent="-416512" lvl="2">
              <a:lnSpc>
                <a:spcPts val="4051"/>
              </a:lnSpc>
              <a:buFont typeface="Arial"/>
              <a:buChar char="⚬"/>
            </a:pPr>
            <a:r>
              <a:rPr lang="en-US" sz="2893">
                <a:solidFill>
                  <a:srgbClr val="000000"/>
                </a:solidFill>
                <a:latin typeface="Lato"/>
                <a:ea typeface="Lato"/>
                <a:cs typeface="Lato"/>
                <a:sym typeface="Lato"/>
              </a:rPr>
              <a:t>Provide a cloud-based streaming solution that simplifies live sports broadcasts.</a:t>
            </a:r>
          </a:p>
          <a:p>
            <a:pPr algn="l" marL="1249536" indent="-416512" lvl="2">
              <a:lnSpc>
                <a:spcPts val="4051"/>
              </a:lnSpc>
              <a:buFont typeface="Arial"/>
              <a:buChar char="⚬"/>
            </a:pPr>
            <a:r>
              <a:rPr lang="en-US" sz="2893">
                <a:solidFill>
                  <a:srgbClr val="000000"/>
                </a:solidFill>
                <a:latin typeface="Lato"/>
                <a:ea typeface="Lato"/>
                <a:cs typeface="Lato"/>
                <a:sym typeface="Lato"/>
              </a:rPr>
              <a:t>Ensure that the software is intuitive for parents and volunteers to set up and use.</a:t>
            </a:r>
          </a:p>
          <a:p>
            <a:pPr algn="l" marL="1249536" indent="-416512" lvl="2">
              <a:lnSpc>
                <a:spcPts val="4051"/>
              </a:lnSpc>
              <a:buFont typeface="Arial"/>
              <a:buChar char="⚬"/>
            </a:pPr>
            <a:r>
              <a:rPr lang="en-US" sz="2893">
                <a:solidFill>
                  <a:srgbClr val="000000"/>
                </a:solidFill>
                <a:latin typeface="Lato"/>
                <a:ea typeface="Lato"/>
                <a:cs typeface="Lato"/>
                <a:sym typeface="Lato"/>
              </a:rPr>
              <a:t>Integrate features like scoring overlays, remote scoring, and real-time clip sharing.</a:t>
            </a:r>
          </a:p>
          <a:p>
            <a:pPr algn="l" marL="624768" indent="-312384" lvl="1">
              <a:lnSpc>
                <a:spcPts val="4051"/>
              </a:lnSpc>
              <a:buFont typeface="Arial"/>
              <a:buChar char="•"/>
            </a:pPr>
            <a:r>
              <a:rPr lang="en-US" sz="2893">
                <a:solidFill>
                  <a:srgbClr val="000000"/>
                </a:solidFill>
                <a:latin typeface="Lato"/>
                <a:ea typeface="Lato"/>
                <a:cs typeface="Lato"/>
                <a:sym typeface="Lato"/>
              </a:rPr>
              <a:t>Project Milestones:</a:t>
            </a:r>
          </a:p>
          <a:p>
            <a:pPr algn="l" marL="1249536" indent="-416512" lvl="2">
              <a:lnSpc>
                <a:spcPts val="4051"/>
              </a:lnSpc>
              <a:buFont typeface="Arial"/>
              <a:buChar char="⚬"/>
            </a:pPr>
            <a:r>
              <a:rPr lang="en-US" sz="2893">
                <a:solidFill>
                  <a:srgbClr val="000000"/>
                </a:solidFill>
                <a:latin typeface="Lato"/>
                <a:ea typeface="Lato"/>
                <a:cs typeface="Lato"/>
                <a:sym typeface="Lato"/>
              </a:rPr>
              <a:t>Milestone 1: Business Plan with Justification</a:t>
            </a:r>
          </a:p>
          <a:p>
            <a:pPr algn="l" marL="1249536" indent="-416512" lvl="2">
              <a:lnSpc>
                <a:spcPts val="4051"/>
              </a:lnSpc>
              <a:buFont typeface="Arial"/>
              <a:buChar char="⚬"/>
            </a:pPr>
            <a:r>
              <a:rPr lang="en-US" sz="2893">
                <a:solidFill>
                  <a:srgbClr val="000000"/>
                </a:solidFill>
                <a:latin typeface="Lato"/>
                <a:ea typeface="Lato"/>
                <a:cs typeface="Lato"/>
                <a:sym typeface="Lato"/>
              </a:rPr>
              <a:t>Milestone 2: Project Management Plan</a:t>
            </a:r>
          </a:p>
          <a:p>
            <a:pPr algn="l" marL="1249536" indent="-416512" lvl="2">
              <a:lnSpc>
                <a:spcPts val="4051"/>
              </a:lnSpc>
              <a:buFont typeface="Arial"/>
              <a:buChar char="⚬"/>
            </a:pPr>
            <a:r>
              <a:rPr lang="en-US" sz="2893">
                <a:solidFill>
                  <a:srgbClr val="000000"/>
                </a:solidFill>
                <a:latin typeface="Lato"/>
                <a:ea typeface="Lato"/>
                <a:cs typeface="Lato"/>
                <a:sym typeface="Lato"/>
              </a:rPr>
              <a:t>Milestone 3: Schedule with Critical Path Analysis</a:t>
            </a:r>
          </a:p>
          <a:p>
            <a:pPr algn="l" marL="1249536" indent="-416512" lvl="2">
              <a:lnSpc>
                <a:spcPts val="4051"/>
              </a:lnSpc>
              <a:buFont typeface="Arial"/>
              <a:buChar char="⚬"/>
            </a:pPr>
            <a:r>
              <a:rPr lang="en-US" sz="2893">
                <a:solidFill>
                  <a:srgbClr val="000000"/>
                </a:solidFill>
                <a:latin typeface="Lato"/>
                <a:ea typeface="Lato"/>
                <a:cs typeface="Lato"/>
                <a:sym typeface="Lato"/>
              </a:rPr>
              <a:t>Milestone 4: Cost Management Plan</a:t>
            </a:r>
          </a:p>
          <a:p>
            <a:pPr algn="l" marL="1249536" indent="-416512" lvl="2">
              <a:lnSpc>
                <a:spcPts val="4051"/>
              </a:lnSpc>
              <a:buFont typeface="Arial"/>
              <a:buChar char="⚬"/>
            </a:pPr>
            <a:r>
              <a:rPr lang="en-US" sz="2893">
                <a:solidFill>
                  <a:srgbClr val="000000"/>
                </a:solidFill>
                <a:latin typeface="Lato"/>
                <a:ea typeface="Lato"/>
                <a:cs typeface="Lato"/>
                <a:sym typeface="Lato"/>
              </a:rPr>
              <a:t>Milestone 5: Resources, Communication, and Risk Management Plan</a:t>
            </a:r>
          </a:p>
          <a:p>
            <a:pPr algn="l" marL="1249536" indent="-416512" lvl="2">
              <a:lnSpc>
                <a:spcPts val="4051"/>
              </a:lnSpc>
              <a:buFont typeface="Arial"/>
              <a:buChar char="⚬"/>
            </a:pPr>
            <a:r>
              <a:rPr lang="en-US" sz="2893">
                <a:solidFill>
                  <a:srgbClr val="000000"/>
                </a:solidFill>
                <a:latin typeface="Lato"/>
                <a:ea typeface="Lato"/>
                <a:cs typeface="Lato"/>
                <a:sym typeface="Lato"/>
              </a:rPr>
              <a:t>Milestone 6: Executing the Project</a:t>
            </a:r>
          </a:p>
          <a:p>
            <a:pPr algn="l" marL="624768" indent="-312384" lvl="1">
              <a:lnSpc>
                <a:spcPts val="4051"/>
              </a:lnSpc>
              <a:spcBef>
                <a:spcPct val="0"/>
              </a:spcBef>
              <a:buFont typeface="Arial"/>
              <a:buChar char="•"/>
            </a:pPr>
            <a:r>
              <a:rPr lang="en-US" sz="2893">
                <a:solidFill>
                  <a:srgbClr val="000000"/>
                </a:solidFill>
                <a:latin typeface="Lato"/>
                <a:ea typeface="Lato"/>
                <a:cs typeface="Lato"/>
                <a:sym typeface="Lato"/>
              </a:rPr>
              <a:t>Project Team: Sokol Ymeraj, Rishi Rajiv, Grant Schweber, Triston Wennersten, Akshit Verma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026051" y="1325957"/>
            <a:ext cx="4235898" cy="8193643"/>
            <a:chOff x="0" y="0"/>
            <a:chExt cx="656251" cy="1269410"/>
          </a:xfrm>
        </p:grpSpPr>
        <p:sp>
          <p:nvSpPr>
            <p:cNvPr name="Freeform 3" id="3"/>
            <p:cNvSpPr/>
            <p:nvPr/>
          </p:nvSpPr>
          <p:spPr>
            <a:xfrm flipH="false" flipV="false" rot="0">
              <a:off x="0" y="0"/>
              <a:ext cx="656251" cy="1269410"/>
            </a:xfrm>
            <a:custGeom>
              <a:avLst/>
              <a:gdLst/>
              <a:ahLst/>
              <a:cxnLst/>
              <a:rect r="r" b="b" t="t" l="l"/>
              <a:pathLst>
                <a:path h="1269410" w="656251">
                  <a:moveTo>
                    <a:pt x="42037" y="0"/>
                  </a:moveTo>
                  <a:lnTo>
                    <a:pt x="614215" y="0"/>
                  </a:lnTo>
                  <a:cubicBezTo>
                    <a:pt x="625363" y="0"/>
                    <a:pt x="636056" y="4429"/>
                    <a:pt x="643939" y="12312"/>
                  </a:cubicBezTo>
                  <a:cubicBezTo>
                    <a:pt x="651823" y="20196"/>
                    <a:pt x="656251" y="30888"/>
                    <a:pt x="656251" y="42037"/>
                  </a:cubicBezTo>
                  <a:lnTo>
                    <a:pt x="656251" y="1227373"/>
                  </a:lnTo>
                  <a:cubicBezTo>
                    <a:pt x="656251" y="1238522"/>
                    <a:pt x="651823" y="1249214"/>
                    <a:pt x="643939" y="1257097"/>
                  </a:cubicBezTo>
                  <a:cubicBezTo>
                    <a:pt x="636056" y="1264981"/>
                    <a:pt x="625363" y="1269410"/>
                    <a:pt x="614215" y="1269410"/>
                  </a:cubicBezTo>
                  <a:lnTo>
                    <a:pt x="42037" y="1269410"/>
                  </a:lnTo>
                  <a:cubicBezTo>
                    <a:pt x="30888" y="1269410"/>
                    <a:pt x="20196" y="1264981"/>
                    <a:pt x="12312" y="1257097"/>
                  </a:cubicBezTo>
                  <a:cubicBezTo>
                    <a:pt x="4429" y="1249214"/>
                    <a:pt x="0" y="1238522"/>
                    <a:pt x="0" y="1227373"/>
                  </a:cubicBezTo>
                  <a:lnTo>
                    <a:pt x="0" y="42037"/>
                  </a:lnTo>
                  <a:cubicBezTo>
                    <a:pt x="0" y="30888"/>
                    <a:pt x="4429" y="20196"/>
                    <a:pt x="12312" y="12312"/>
                  </a:cubicBezTo>
                  <a:cubicBezTo>
                    <a:pt x="20196" y="4429"/>
                    <a:pt x="30888" y="0"/>
                    <a:pt x="42037" y="0"/>
                  </a:cubicBezTo>
                  <a:close/>
                </a:path>
              </a:pathLst>
            </a:custGeom>
            <a:blipFill>
              <a:blip r:embed="rId2"/>
              <a:stretch>
                <a:fillRect l="-115124" t="0" r="-238678" b="0"/>
              </a:stretch>
            </a:blipFill>
          </p:spPr>
        </p:sp>
      </p:grpSp>
      <p:grpSp>
        <p:nvGrpSpPr>
          <p:cNvPr name="Group 4" id="4"/>
          <p:cNvGrpSpPr/>
          <p:nvPr/>
        </p:nvGrpSpPr>
        <p:grpSpPr>
          <a:xfrm rot="0">
            <a:off x="248455" y="1325957"/>
            <a:ext cx="6517605" cy="3484648"/>
            <a:chOff x="0" y="0"/>
            <a:chExt cx="1716571" cy="917767"/>
          </a:xfrm>
        </p:grpSpPr>
        <p:sp>
          <p:nvSpPr>
            <p:cNvPr name="Freeform 5" id="5"/>
            <p:cNvSpPr/>
            <p:nvPr/>
          </p:nvSpPr>
          <p:spPr>
            <a:xfrm flipH="false" flipV="false" rot="0">
              <a:off x="0" y="0"/>
              <a:ext cx="1716571" cy="917767"/>
            </a:xfrm>
            <a:custGeom>
              <a:avLst/>
              <a:gdLst/>
              <a:ahLst/>
              <a:cxnLst/>
              <a:rect r="r" b="b" t="t" l="l"/>
              <a:pathLst>
                <a:path h="917767" w="1716571">
                  <a:moveTo>
                    <a:pt x="23757" y="0"/>
                  </a:moveTo>
                  <a:lnTo>
                    <a:pt x="1692814" y="0"/>
                  </a:lnTo>
                  <a:cubicBezTo>
                    <a:pt x="1705935" y="0"/>
                    <a:pt x="1716571" y="10636"/>
                    <a:pt x="1716571" y="23757"/>
                  </a:cubicBezTo>
                  <a:lnTo>
                    <a:pt x="1716571" y="894010"/>
                  </a:lnTo>
                  <a:cubicBezTo>
                    <a:pt x="1716571" y="907131"/>
                    <a:pt x="1705935" y="917767"/>
                    <a:pt x="1692814" y="917767"/>
                  </a:cubicBezTo>
                  <a:lnTo>
                    <a:pt x="23757" y="917767"/>
                  </a:lnTo>
                  <a:cubicBezTo>
                    <a:pt x="10636" y="917767"/>
                    <a:pt x="0" y="907131"/>
                    <a:pt x="0" y="894010"/>
                  </a:cubicBezTo>
                  <a:lnTo>
                    <a:pt x="0" y="23757"/>
                  </a:lnTo>
                  <a:cubicBezTo>
                    <a:pt x="0" y="10636"/>
                    <a:pt x="10636" y="0"/>
                    <a:pt x="23757" y="0"/>
                  </a:cubicBezTo>
                  <a:close/>
                </a:path>
              </a:pathLst>
            </a:custGeom>
            <a:solidFill>
              <a:srgbClr val="000000"/>
            </a:solidFill>
            <a:ln w="38100" cap="sq">
              <a:solidFill>
                <a:srgbClr val="FBF9F1"/>
              </a:solidFill>
              <a:prstDash val="solid"/>
              <a:miter/>
            </a:ln>
          </p:spPr>
        </p:sp>
        <p:sp>
          <p:nvSpPr>
            <p:cNvPr name="TextBox 6" id="6"/>
            <p:cNvSpPr txBox="true"/>
            <p:nvPr/>
          </p:nvSpPr>
          <p:spPr>
            <a:xfrm>
              <a:off x="0" y="-47625"/>
              <a:ext cx="1716571" cy="965392"/>
            </a:xfrm>
            <a:prstGeom prst="rect">
              <a:avLst/>
            </a:prstGeom>
          </p:spPr>
          <p:txBody>
            <a:bodyPr anchor="ctr" rtlCol="false" tIns="50800" lIns="50800" bIns="50800" rIns="50800"/>
            <a:lstStyle/>
            <a:p>
              <a:pPr algn="l">
                <a:lnSpc>
                  <a:spcPts val="3079"/>
                </a:lnSpc>
              </a:pPr>
            </a:p>
            <a:p>
              <a:pPr algn="l">
                <a:lnSpc>
                  <a:spcPts val="3079"/>
                </a:lnSpc>
              </a:pPr>
            </a:p>
            <a:p>
              <a:pPr algn="ctr">
                <a:lnSpc>
                  <a:spcPts val="3079"/>
                </a:lnSpc>
              </a:pPr>
            </a:p>
          </p:txBody>
        </p:sp>
      </p:grpSp>
      <p:grpSp>
        <p:nvGrpSpPr>
          <p:cNvPr name="Group 7" id="7"/>
          <p:cNvGrpSpPr/>
          <p:nvPr/>
        </p:nvGrpSpPr>
        <p:grpSpPr>
          <a:xfrm rot="0">
            <a:off x="248455" y="5738574"/>
            <a:ext cx="6188862" cy="3215551"/>
            <a:chOff x="0" y="0"/>
            <a:chExt cx="1629988" cy="846894"/>
          </a:xfrm>
        </p:grpSpPr>
        <p:sp>
          <p:nvSpPr>
            <p:cNvPr name="Freeform 8" id="8"/>
            <p:cNvSpPr/>
            <p:nvPr/>
          </p:nvSpPr>
          <p:spPr>
            <a:xfrm flipH="false" flipV="false" rot="0">
              <a:off x="0" y="0"/>
              <a:ext cx="1629988" cy="846894"/>
            </a:xfrm>
            <a:custGeom>
              <a:avLst/>
              <a:gdLst/>
              <a:ahLst/>
              <a:cxnLst/>
              <a:rect r="r" b="b" t="t" l="l"/>
              <a:pathLst>
                <a:path h="846894" w="1629988">
                  <a:moveTo>
                    <a:pt x="25019" y="0"/>
                  </a:moveTo>
                  <a:lnTo>
                    <a:pt x="1604970" y="0"/>
                  </a:lnTo>
                  <a:cubicBezTo>
                    <a:pt x="1611605" y="0"/>
                    <a:pt x="1617969" y="2636"/>
                    <a:pt x="1622661" y="7328"/>
                  </a:cubicBezTo>
                  <a:cubicBezTo>
                    <a:pt x="1627353" y="12020"/>
                    <a:pt x="1629988" y="18383"/>
                    <a:pt x="1629988" y="25019"/>
                  </a:cubicBezTo>
                  <a:lnTo>
                    <a:pt x="1629988" y="821875"/>
                  </a:lnTo>
                  <a:cubicBezTo>
                    <a:pt x="1629988" y="828510"/>
                    <a:pt x="1627353" y="834874"/>
                    <a:pt x="1622661" y="839566"/>
                  </a:cubicBezTo>
                  <a:cubicBezTo>
                    <a:pt x="1617969" y="844258"/>
                    <a:pt x="1611605" y="846894"/>
                    <a:pt x="1604970" y="846894"/>
                  </a:cubicBezTo>
                  <a:lnTo>
                    <a:pt x="25019" y="846894"/>
                  </a:lnTo>
                  <a:cubicBezTo>
                    <a:pt x="18383" y="846894"/>
                    <a:pt x="12020" y="844258"/>
                    <a:pt x="7328" y="839566"/>
                  </a:cubicBezTo>
                  <a:cubicBezTo>
                    <a:pt x="2636" y="834874"/>
                    <a:pt x="0" y="828510"/>
                    <a:pt x="0" y="821875"/>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9" id="9"/>
            <p:cNvSpPr txBox="true"/>
            <p:nvPr/>
          </p:nvSpPr>
          <p:spPr>
            <a:xfrm>
              <a:off x="0" y="-38100"/>
              <a:ext cx="1629988" cy="88499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1718651" y="1652050"/>
            <a:ext cx="6320894" cy="2771966"/>
            <a:chOff x="0" y="0"/>
            <a:chExt cx="1664762" cy="730065"/>
          </a:xfrm>
        </p:grpSpPr>
        <p:sp>
          <p:nvSpPr>
            <p:cNvPr name="Freeform 11" id="11"/>
            <p:cNvSpPr/>
            <p:nvPr/>
          </p:nvSpPr>
          <p:spPr>
            <a:xfrm flipH="false" flipV="false" rot="0">
              <a:off x="0" y="0"/>
              <a:ext cx="1664762" cy="730065"/>
            </a:xfrm>
            <a:custGeom>
              <a:avLst/>
              <a:gdLst/>
              <a:ahLst/>
              <a:cxnLst/>
              <a:rect r="r" b="b" t="t" l="l"/>
              <a:pathLst>
                <a:path h="730065" w="1664762">
                  <a:moveTo>
                    <a:pt x="24496" y="0"/>
                  </a:moveTo>
                  <a:lnTo>
                    <a:pt x="1640266" y="0"/>
                  </a:lnTo>
                  <a:cubicBezTo>
                    <a:pt x="1653795" y="0"/>
                    <a:pt x="1664762" y="10967"/>
                    <a:pt x="1664762" y="24496"/>
                  </a:cubicBezTo>
                  <a:lnTo>
                    <a:pt x="1664762" y="705569"/>
                  </a:lnTo>
                  <a:cubicBezTo>
                    <a:pt x="1664762" y="712066"/>
                    <a:pt x="1662181" y="718296"/>
                    <a:pt x="1657587" y="722890"/>
                  </a:cubicBezTo>
                  <a:cubicBezTo>
                    <a:pt x="1652993" y="727484"/>
                    <a:pt x="1646763" y="730065"/>
                    <a:pt x="1640266" y="730065"/>
                  </a:cubicBezTo>
                  <a:lnTo>
                    <a:pt x="24496" y="730065"/>
                  </a:lnTo>
                  <a:cubicBezTo>
                    <a:pt x="10967" y="730065"/>
                    <a:pt x="0" y="719098"/>
                    <a:pt x="0" y="705569"/>
                  </a:cubicBezTo>
                  <a:lnTo>
                    <a:pt x="0" y="24496"/>
                  </a:lnTo>
                  <a:cubicBezTo>
                    <a:pt x="0" y="10967"/>
                    <a:pt x="10967" y="0"/>
                    <a:pt x="24496" y="0"/>
                  </a:cubicBezTo>
                  <a:close/>
                </a:path>
              </a:pathLst>
            </a:custGeom>
            <a:solidFill>
              <a:srgbClr val="000000"/>
            </a:solidFill>
            <a:ln w="38100" cap="sq">
              <a:solidFill>
                <a:srgbClr val="FBF9F1"/>
              </a:solidFill>
              <a:prstDash val="solid"/>
              <a:miter/>
            </a:ln>
          </p:spPr>
        </p:sp>
        <p:sp>
          <p:nvSpPr>
            <p:cNvPr name="TextBox 12" id="12"/>
            <p:cNvSpPr txBox="true"/>
            <p:nvPr/>
          </p:nvSpPr>
          <p:spPr>
            <a:xfrm>
              <a:off x="0" y="-38100"/>
              <a:ext cx="1664762" cy="76816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1718651" y="5413201"/>
            <a:ext cx="6320894" cy="3540924"/>
            <a:chOff x="0" y="0"/>
            <a:chExt cx="1664762" cy="932589"/>
          </a:xfrm>
        </p:grpSpPr>
        <p:sp>
          <p:nvSpPr>
            <p:cNvPr name="Freeform 14" id="14"/>
            <p:cNvSpPr/>
            <p:nvPr/>
          </p:nvSpPr>
          <p:spPr>
            <a:xfrm flipH="false" flipV="false" rot="0">
              <a:off x="0" y="0"/>
              <a:ext cx="1664762" cy="932589"/>
            </a:xfrm>
            <a:custGeom>
              <a:avLst/>
              <a:gdLst/>
              <a:ahLst/>
              <a:cxnLst/>
              <a:rect r="r" b="b" t="t" l="l"/>
              <a:pathLst>
                <a:path h="932589" w="1664762">
                  <a:moveTo>
                    <a:pt x="24496" y="0"/>
                  </a:moveTo>
                  <a:lnTo>
                    <a:pt x="1640266" y="0"/>
                  </a:lnTo>
                  <a:cubicBezTo>
                    <a:pt x="1653795" y="0"/>
                    <a:pt x="1664762" y="10967"/>
                    <a:pt x="1664762" y="24496"/>
                  </a:cubicBezTo>
                  <a:lnTo>
                    <a:pt x="1664762" y="908093"/>
                  </a:lnTo>
                  <a:cubicBezTo>
                    <a:pt x="1664762" y="914590"/>
                    <a:pt x="1662181" y="920820"/>
                    <a:pt x="1657587" y="925414"/>
                  </a:cubicBezTo>
                  <a:cubicBezTo>
                    <a:pt x="1652993" y="930008"/>
                    <a:pt x="1646763" y="932589"/>
                    <a:pt x="1640266" y="932589"/>
                  </a:cubicBezTo>
                  <a:lnTo>
                    <a:pt x="24496" y="932589"/>
                  </a:lnTo>
                  <a:cubicBezTo>
                    <a:pt x="10967" y="932589"/>
                    <a:pt x="0" y="921622"/>
                    <a:pt x="0" y="908093"/>
                  </a:cubicBezTo>
                  <a:lnTo>
                    <a:pt x="0" y="24496"/>
                  </a:lnTo>
                  <a:cubicBezTo>
                    <a:pt x="0" y="10967"/>
                    <a:pt x="10967" y="0"/>
                    <a:pt x="24496" y="0"/>
                  </a:cubicBezTo>
                  <a:close/>
                </a:path>
              </a:pathLst>
            </a:custGeom>
            <a:solidFill>
              <a:srgbClr val="000000"/>
            </a:solidFill>
            <a:ln w="38100" cap="sq">
              <a:solidFill>
                <a:srgbClr val="FBF9F1"/>
              </a:solidFill>
              <a:prstDash val="solid"/>
              <a:miter/>
            </a:ln>
          </p:spPr>
        </p:sp>
        <p:sp>
          <p:nvSpPr>
            <p:cNvPr name="TextBox 15" id="15"/>
            <p:cNvSpPr txBox="true"/>
            <p:nvPr/>
          </p:nvSpPr>
          <p:spPr>
            <a:xfrm>
              <a:off x="0" y="-38100"/>
              <a:ext cx="1664762" cy="970689"/>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909664" y="1378765"/>
            <a:ext cx="5445149" cy="45085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Poppins Bold"/>
                <a:ea typeface="Poppins Bold"/>
                <a:cs typeface="Poppins Bold"/>
                <a:sym typeface="Poppins Bold"/>
              </a:rPr>
              <a:t>TEAM MEMBERS</a:t>
            </a:r>
          </a:p>
        </p:txBody>
      </p:sp>
      <p:sp>
        <p:nvSpPr>
          <p:cNvPr name="TextBox 17" id="17"/>
          <p:cNvSpPr txBox="true"/>
          <p:nvPr/>
        </p:nvSpPr>
        <p:spPr>
          <a:xfrm rot="0">
            <a:off x="3698927" y="90882"/>
            <a:ext cx="11602227" cy="758825"/>
          </a:xfrm>
          <a:prstGeom prst="rect">
            <a:avLst/>
          </a:prstGeom>
        </p:spPr>
        <p:txBody>
          <a:bodyPr anchor="t" rtlCol="false" tIns="0" lIns="0" bIns="0" rIns="0">
            <a:spAutoFit/>
          </a:bodyPr>
          <a:lstStyle/>
          <a:p>
            <a:pPr algn="ctr">
              <a:lnSpc>
                <a:spcPts val="5500"/>
              </a:lnSpc>
            </a:pPr>
            <a:r>
              <a:rPr lang="en-US" b="true" sz="5000">
                <a:solidFill>
                  <a:srgbClr val="FBF9F1"/>
                </a:solidFill>
                <a:latin typeface="Poppins Bold"/>
                <a:ea typeface="Poppins Bold"/>
                <a:cs typeface="Poppins Bold"/>
                <a:sym typeface="Poppins Bold"/>
              </a:rPr>
              <a:t>KEY STAKEHOLDER IDENTIFICATION</a:t>
            </a:r>
          </a:p>
        </p:txBody>
      </p:sp>
      <p:sp>
        <p:nvSpPr>
          <p:cNvPr name="TextBox 18" id="18"/>
          <p:cNvSpPr txBox="true"/>
          <p:nvPr/>
        </p:nvSpPr>
        <p:spPr>
          <a:xfrm rot="0">
            <a:off x="465230" y="6380279"/>
            <a:ext cx="5665471" cy="3115945"/>
          </a:xfrm>
          <a:prstGeom prst="rect">
            <a:avLst/>
          </a:prstGeom>
        </p:spPr>
        <p:txBody>
          <a:bodyPr anchor="t" rtlCol="false" tIns="0" lIns="0" bIns="0" rIns="0">
            <a:spAutoFit/>
          </a:bodyPr>
          <a:lstStyle/>
          <a:p>
            <a:pPr algn="l" marL="474979" indent="-237490" lvl="1">
              <a:lnSpc>
                <a:spcPts val="3079"/>
              </a:lnSpc>
              <a:buFont typeface="Arial"/>
              <a:buChar char="•"/>
            </a:pPr>
            <a:r>
              <a:rPr lang="en-US" b="true" sz="2199">
                <a:solidFill>
                  <a:srgbClr val="E5E1DA"/>
                </a:solidFill>
                <a:latin typeface="Lato Bold"/>
                <a:ea typeface="Lato Bold"/>
                <a:cs typeface="Lato Bold"/>
                <a:sym typeface="Lato Bold"/>
              </a:rPr>
              <a:t>Players</a:t>
            </a:r>
            <a:r>
              <a:rPr lang="en-US" sz="2199">
                <a:solidFill>
                  <a:srgbClr val="E5E1DA"/>
                </a:solidFill>
                <a:latin typeface="Lato"/>
                <a:ea typeface="Lato"/>
                <a:cs typeface="Lato"/>
                <a:sym typeface="Lato"/>
              </a:rPr>
              <a:t>: Individuals who play sports.</a:t>
            </a:r>
          </a:p>
          <a:p>
            <a:pPr algn="l" marL="474979" indent="-237490" lvl="1">
              <a:lnSpc>
                <a:spcPts val="3079"/>
              </a:lnSpc>
              <a:buFont typeface="Arial"/>
              <a:buChar char="•"/>
            </a:pPr>
            <a:r>
              <a:rPr lang="en-US" b="true" sz="2199">
                <a:solidFill>
                  <a:srgbClr val="E5E1DA"/>
                </a:solidFill>
                <a:latin typeface="Lato Bold"/>
                <a:ea typeface="Lato Bold"/>
                <a:cs typeface="Lato Bold"/>
                <a:sym typeface="Lato Bold"/>
              </a:rPr>
              <a:t>Tournament Organizers</a:t>
            </a:r>
            <a:r>
              <a:rPr lang="en-US" sz="2199">
                <a:solidFill>
                  <a:srgbClr val="E5E1DA"/>
                </a:solidFill>
                <a:latin typeface="Lato"/>
                <a:ea typeface="Lato"/>
                <a:cs typeface="Lato"/>
                <a:sym typeface="Lato"/>
              </a:rPr>
              <a:t>: Responsible for organizing gaming tournaments.</a:t>
            </a:r>
          </a:p>
          <a:p>
            <a:pPr algn="l" marL="474979" indent="-237490" lvl="1">
              <a:lnSpc>
                <a:spcPts val="3079"/>
              </a:lnSpc>
              <a:buFont typeface="Arial"/>
              <a:buChar char="•"/>
            </a:pPr>
            <a:r>
              <a:rPr lang="en-US" b="true" sz="2199">
                <a:solidFill>
                  <a:srgbClr val="E5E1DA"/>
                </a:solidFill>
                <a:latin typeface="Lato Bold"/>
                <a:ea typeface="Lato Bold"/>
                <a:cs typeface="Lato Bold"/>
                <a:sym typeface="Lato Bold"/>
              </a:rPr>
              <a:t>S</a:t>
            </a:r>
            <a:r>
              <a:rPr lang="en-US" b="true" sz="2199">
                <a:solidFill>
                  <a:srgbClr val="E5E1DA"/>
                </a:solidFill>
                <a:latin typeface="Lato Bold"/>
                <a:ea typeface="Lato Bold"/>
                <a:cs typeface="Lato Bold"/>
                <a:sym typeface="Lato Bold"/>
              </a:rPr>
              <a:t>ports</a:t>
            </a:r>
            <a:r>
              <a:rPr lang="en-US" sz="2199">
                <a:solidFill>
                  <a:srgbClr val="E5E1DA"/>
                </a:solidFill>
                <a:latin typeface="Lato"/>
                <a:ea typeface="Lato"/>
                <a:cs typeface="Lato"/>
                <a:sym typeface="Lato"/>
              </a:rPr>
              <a:t>: Professional teams.</a:t>
            </a:r>
          </a:p>
          <a:p>
            <a:pPr algn="l" marL="474979" indent="-237490" lvl="1">
              <a:lnSpc>
                <a:spcPts val="3079"/>
              </a:lnSpc>
              <a:buFont typeface="Arial"/>
              <a:buChar char="•"/>
            </a:pPr>
            <a:r>
              <a:rPr lang="en-US" b="true" sz="2199">
                <a:solidFill>
                  <a:srgbClr val="E5E1DA"/>
                </a:solidFill>
                <a:latin typeface="Lato Bold"/>
                <a:ea typeface="Lato Bold"/>
                <a:cs typeface="Lato Bold"/>
                <a:sym typeface="Lato Bold"/>
              </a:rPr>
              <a:t>Streaming Platforms</a:t>
            </a:r>
            <a:r>
              <a:rPr lang="en-US" sz="2199">
                <a:solidFill>
                  <a:srgbClr val="E5E1DA"/>
                </a:solidFill>
                <a:latin typeface="Lato"/>
                <a:ea typeface="Lato"/>
                <a:cs typeface="Lato"/>
                <a:sym typeface="Lato"/>
              </a:rPr>
              <a:t>: Platforms that stream content.</a:t>
            </a:r>
          </a:p>
          <a:p>
            <a:pPr algn="l">
              <a:lnSpc>
                <a:spcPts val="3079"/>
              </a:lnSpc>
            </a:pPr>
          </a:p>
          <a:p>
            <a:pPr algn="l">
              <a:lnSpc>
                <a:spcPts val="3079"/>
              </a:lnSpc>
              <a:spcBef>
                <a:spcPct val="0"/>
              </a:spcBef>
            </a:pPr>
          </a:p>
        </p:txBody>
      </p:sp>
      <p:sp>
        <p:nvSpPr>
          <p:cNvPr name="TextBox 19" id="19"/>
          <p:cNvSpPr txBox="true"/>
          <p:nvPr/>
        </p:nvSpPr>
        <p:spPr>
          <a:xfrm rot="0">
            <a:off x="2206364" y="5786554"/>
            <a:ext cx="5445149" cy="45085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Poppins Bold"/>
                <a:ea typeface="Poppins Bold"/>
                <a:cs typeface="Poppins Bold"/>
                <a:sym typeface="Poppins Bold"/>
              </a:rPr>
              <a:t>END USERS</a:t>
            </a:r>
          </a:p>
        </p:txBody>
      </p:sp>
      <p:sp>
        <p:nvSpPr>
          <p:cNvPr name="TextBox 20" id="20"/>
          <p:cNvSpPr txBox="true"/>
          <p:nvPr/>
        </p:nvSpPr>
        <p:spPr>
          <a:xfrm rot="0">
            <a:off x="12077939" y="2344705"/>
            <a:ext cx="5734348" cy="2465900"/>
          </a:xfrm>
          <a:prstGeom prst="rect">
            <a:avLst/>
          </a:prstGeom>
        </p:spPr>
        <p:txBody>
          <a:bodyPr anchor="t" rtlCol="false" tIns="0" lIns="0" bIns="0" rIns="0">
            <a:spAutoFit/>
          </a:bodyPr>
          <a:lstStyle/>
          <a:p>
            <a:pPr algn="l" marL="500206" indent="-250103" lvl="1">
              <a:lnSpc>
                <a:spcPts val="3243"/>
              </a:lnSpc>
              <a:buFont typeface="Arial"/>
              <a:buChar char="•"/>
            </a:pPr>
            <a:r>
              <a:rPr lang="en-US" b="true" sz="2316">
                <a:solidFill>
                  <a:srgbClr val="E5E1DA"/>
                </a:solidFill>
                <a:latin typeface="Lato Bold"/>
                <a:ea typeface="Lato Bold"/>
                <a:cs typeface="Lato Bold"/>
                <a:sym typeface="Lato Bold"/>
              </a:rPr>
              <a:t>Venture Capital Firms</a:t>
            </a:r>
            <a:r>
              <a:rPr lang="en-US" sz="2316">
                <a:solidFill>
                  <a:srgbClr val="E5E1DA"/>
                </a:solidFill>
                <a:latin typeface="Lato"/>
                <a:ea typeface="Lato"/>
                <a:cs typeface="Lato"/>
                <a:sym typeface="Lato"/>
              </a:rPr>
              <a:t>: Provide funding for the project.</a:t>
            </a:r>
          </a:p>
          <a:p>
            <a:pPr algn="l" marL="500206" indent="-250103" lvl="1">
              <a:lnSpc>
                <a:spcPts val="3243"/>
              </a:lnSpc>
              <a:buFont typeface="Arial"/>
              <a:buChar char="•"/>
            </a:pPr>
            <a:r>
              <a:rPr lang="en-US" b="true" sz="2316">
                <a:solidFill>
                  <a:srgbClr val="E5E1DA"/>
                </a:solidFill>
                <a:latin typeface="Lato Bold"/>
                <a:ea typeface="Lato Bold"/>
                <a:cs typeface="Lato Bold"/>
                <a:sym typeface="Lato Bold"/>
              </a:rPr>
              <a:t>Investors</a:t>
            </a:r>
            <a:r>
              <a:rPr lang="en-US" sz="2316">
                <a:solidFill>
                  <a:srgbClr val="E5E1DA"/>
                </a:solidFill>
                <a:latin typeface="Lato"/>
                <a:ea typeface="Lato"/>
                <a:cs typeface="Lato"/>
                <a:sym typeface="Lato"/>
              </a:rPr>
              <a:t>: Individual investors who provide funding.</a:t>
            </a:r>
          </a:p>
          <a:p>
            <a:pPr algn="l">
              <a:lnSpc>
                <a:spcPts val="3243"/>
              </a:lnSpc>
            </a:pPr>
          </a:p>
          <a:p>
            <a:pPr algn="l">
              <a:lnSpc>
                <a:spcPts val="3243"/>
              </a:lnSpc>
              <a:spcBef>
                <a:spcPct val="0"/>
              </a:spcBef>
            </a:pPr>
          </a:p>
        </p:txBody>
      </p:sp>
      <p:sp>
        <p:nvSpPr>
          <p:cNvPr name="TextBox 21" id="21"/>
          <p:cNvSpPr txBox="true"/>
          <p:nvPr/>
        </p:nvSpPr>
        <p:spPr>
          <a:xfrm rot="0">
            <a:off x="13688886" y="1633945"/>
            <a:ext cx="5445149" cy="45085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Poppins Bold"/>
                <a:ea typeface="Poppins Bold"/>
                <a:cs typeface="Poppins Bold"/>
                <a:sym typeface="Poppins Bold"/>
              </a:rPr>
              <a:t>INVESTORS</a:t>
            </a:r>
          </a:p>
        </p:txBody>
      </p:sp>
      <p:sp>
        <p:nvSpPr>
          <p:cNvPr name="TextBox 22" id="22"/>
          <p:cNvSpPr txBox="true"/>
          <p:nvPr/>
        </p:nvSpPr>
        <p:spPr>
          <a:xfrm rot="0">
            <a:off x="12156523" y="6189779"/>
            <a:ext cx="5445149" cy="3506470"/>
          </a:xfrm>
          <a:prstGeom prst="rect">
            <a:avLst/>
          </a:prstGeom>
        </p:spPr>
        <p:txBody>
          <a:bodyPr anchor="t" rtlCol="false" tIns="0" lIns="0" bIns="0" rIns="0">
            <a:spAutoFit/>
          </a:bodyPr>
          <a:lstStyle/>
          <a:p>
            <a:pPr algn="l" marL="474979" indent="-237490" lvl="1">
              <a:lnSpc>
                <a:spcPts val="3079"/>
              </a:lnSpc>
              <a:buFont typeface="Arial"/>
              <a:buChar char="•"/>
            </a:pPr>
            <a:r>
              <a:rPr lang="en-US" b="true" sz="2199">
                <a:solidFill>
                  <a:srgbClr val="E5E1DA"/>
                </a:solidFill>
                <a:latin typeface="Lato Bold"/>
                <a:ea typeface="Lato Bold"/>
                <a:cs typeface="Lato Bold"/>
                <a:sym typeface="Lato Bold"/>
              </a:rPr>
              <a:t>Traditional Sports Teams:</a:t>
            </a:r>
            <a:r>
              <a:rPr lang="en-US" sz="2199">
                <a:solidFill>
                  <a:srgbClr val="E5E1DA"/>
                </a:solidFill>
                <a:latin typeface="Lato"/>
                <a:ea typeface="Lato"/>
                <a:cs typeface="Lato"/>
                <a:sym typeface="Lato"/>
              </a:rPr>
              <a:t> May be interested in using the platform for events and fan engagement.</a:t>
            </a:r>
          </a:p>
          <a:p>
            <a:pPr algn="l" marL="474979" indent="-237490" lvl="1">
              <a:lnSpc>
                <a:spcPts val="3079"/>
              </a:lnSpc>
              <a:buFont typeface="Arial"/>
              <a:buChar char="•"/>
            </a:pPr>
            <a:r>
              <a:rPr lang="en-US" b="true" sz="2199">
                <a:solidFill>
                  <a:srgbClr val="E5E1DA"/>
                </a:solidFill>
                <a:latin typeface="Lato Bold"/>
                <a:ea typeface="Lato Bold"/>
                <a:cs typeface="Lato Bold"/>
                <a:sym typeface="Lato Bold"/>
              </a:rPr>
              <a:t>Grassroots/ Youth </a:t>
            </a:r>
            <a:r>
              <a:rPr lang="en-US" b="true" sz="2199">
                <a:solidFill>
                  <a:srgbClr val="E5E1DA"/>
                </a:solidFill>
                <a:latin typeface="Lato Bold"/>
                <a:ea typeface="Lato Bold"/>
                <a:cs typeface="Lato Bold"/>
                <a:sym typeface="Lato Bold"/>
              </a:rPr>
              <a:t>Teams:</a:t>
            </a:r>
            <a:r>
              <a:rPr lang="en-US" sz="2199">
                <a:solidFill>
                  <a:srgbClr val="E5E1DA"/>
                </a:solidFill>
                <a:latin typeface="Lato"/>
                <a:ea typeface="Lato"/>
                <a:cs typeface="Lato"/>
                <a:sym typeface="Lato"/>
              </a:rPr>
              <a:t> May use the platform for training, competitions, and streaming of games.</a:t>
            </a:r>
          </a:p>
          <a:p>
            <a:pPr algn="l">
              <a:lnSpc>
                <a:spcPts val="3079"/>
              </a:lnSpc>
            </a:pPr>
          </a:p>
          <a:p>
            <a:pPr algn="l">
              <a:lnSpc>
                <a:spcPts val="3079"/>
              </a:lnSpc>
            </a:pPr>
          </a:p>
          <a:p>
            <a:pPr algn="l">
              <a:lnSpc>
                <a:spcPts val="3079"/>
              </a:lnSpc>
              <a:spcBef>
                <a:spcPct val="0"/>
              </a:spcBef>
            </a:pPr>
          </a:p>
        </p:txBody>
      </p:sp>
      <p:sp>
        <p:nvSpPr>
          <p:cNvPr name="TextBox 23" id="23"/>
          <p:cNvSpPr txBox="true"/>
          <p:nvPr/>
        </p:nvSpPr>
        <p:spPr>
          <a:xfrm rot="0">
            <a:off x="13226893" y="5534505"/>
            <a:ext cx="5445149" cy="45085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Poppins Bold"/>
                <a:ea typeface="Poppins Bold"/>
                <a:cs typeface="Poppins Bold"/>
                <a:sym typeface="Poppins Bold"/>
              </a:rPr>
              <a:t>SPORTS TEAMS</a:t>
            </a:r>
          </a:p>
        </p:txBody>
      </p:sp>
      <p:sp>
        <p:nvSpPr>
          <p:cNvPr name="TextBox 24" id="24"/>
          <p:cNvSpPr txBox="true"/>
          <p:nvPr/>
        </p:nvSpPr>
        <p:spPr>
          <a:xfrm rot="0">
            <a:off x="356843" y="2016947"/>
            <a:ext cx="6300831" cy="3496196"/>
          </a:xfrm>
          <a:prstGeom prst="rect">
            <a:avLst/>
          </a:prstGeom>
        </p:spPr>
        <p:txBody>
          <a:bodyPr anchor="t" rtlCol="false" tIns="0" lIns="0" bIns="0" rIns="0">
            <a:spAutoFit/>
          </a:bodyPr>
          <a:lstStyle/>
          <a:p>
            <a:pPr algn="l" marL="400387" indent="-200194" lvl="1">
              <a:lnSpc>
                <a:spcPts val="2596"/>
              </a:lnSpc>
              <a:buFont typeface="Arial"/>
              <a:buChar char="•"/>
            </a:pPr>
            <a:r>
              <a:rPr lang="en-US" b="true" sz="1854">
                <a:solidFill>
                  <a:srgbClr val="E5E1DA"/>
                </a:solidFill>
                <a:latin typeface="Lato Bold"/>
                <a:ea typeface="Lato Bold"/>
                <a:cs typeface="Lato Bold"/>
                <a:sym typeface="Lato Bold"/>
              </a:rPr>
              <a:t>Development Team</a:t>
            </a:r>
            <a:r>
              <a:rPr lang="en-US" sz="1854">
                <a:solidFill>
                  <a:srgbClr val="E5E1DA"/>
                </a:solidFill>
                <a:latin typeface="Lato"/>
                <a:ea typeface="Lato"/>
                <a:cs typeface="Lato"/>
                <a:sym typeface="Lato"/>
              </a:rPr>
              <a:t>: Engineers / developers responsible for building the platform.</a:t>
            </a:r>
          </a:p>
          <a:p>
            <a:pPr algn="l" marL="400387" indent="-200194" lvl="1">
              <a:lnSpc>
                <a:spcPts val="2596"/>
              </a:lnSpc>
              <a:buFont typeface="Arial"/>
              <a:buChar char="•"/>
            </a:pPr>
            <a:r>
              <a:rPr lang="en-US" b="true" sz="1854">
                <a:solidFill>
                  <a:srgbClr val="E5E1DA"/>
                </a:solidFill>
                <a:latin typeface="Lato Bold"/>
                <a:ea typeface="Lato Bold"/>
                <a:cs typeface="Lato Bold"/>
                <a:sym typeface="Lato Bold"/>
              </a:rPr>
              <a:t>Marketing Team</a:t>
            </a:r>
            <a:r>
              <a:rPr lang="en-US" sz="1854">
                <a:solidFill>
                  <a:srgbClr val="E5E1DA"/>
                </a:solidFill>
                <a:latin typeface="Lato"/>
                <a:ea typeface="Lato"/>
                <a:cs typeface="Lato"/>
                <a:sym typeface="Lato"/>
              </a:rPr>
              <a:t>: Promotion.</a:t>
            </a:r>
          </a:p>
          <a:p>
            <a:pPr algn="l" marL="400387" indent="-200194" lvl="1">
              <a:lnSpc>
                <a:spcPts val="2596"/>
              </a:lnSpc>
              <a:buFont typeface="Arial"/>
              <a:buChar char="•"/>
            </a:pPr>
            <a:r>
              <a:rPr lang="en-US" b="true" sz="1854">
                <a:solidFill>
                  <a:srgbClr val="E5E1DA"/>
                </a:solidFill>
                <a:latin typeface="Lato Bold"/>
                <a:ea typeface="Lato Bold"/>
                <a:cs typeface="Lato Bold"/>
                <a:sym typeface="Lato Bold"/>
              </a:rPr>
              <a:t>Customer Support Team</a:t>
            </a:r>
            <a:r>
              <a:rPr lang="en-US" sz="1854">
                <a:solidFill>
                  <a:srgbClr val="E5E1DA"/>
                </a:solidFill>
                <a:latin typeface="Lato"/>
                <a:ea typeface="Lato"/>
                <a:cs typeface="Lato"/>
                <a:sym typeface="Lato"/>
              </a:rPr>
              <a:t>: Provides support to customers.</a:t>
            </a:r>
          </a:p>
          <a:p>
            <a:pPr algn="l" marL="400387" indent="-200194" lvl="1">
              <a:lnSpc>
                <a:spcPts val="2596"/>
              </a:lnSpc>
              <a:buFont typeface="Arial"/>
              <a:buChar char="•"/>
            </a:pPr>
            <a:r>
              <a:rPr lang="en-US" b="true" sz="1854">
                <a:solidFill>
                  <a:srgbClr val="E5E1DA"/>
                </a:solidFill>
                <a:latin typeface="Lato Bold"/>
                <a:ea typeface="Lato Bold"/>
                <a:cs typeface="Lato Bold"/>
                <a:sym typeface="Lato Bold"/>
              </a:rPr>
              <a:t>Designers</a:t>
            </a:r>
            <a:r>
              <a:rPr lang="en-US" sz="1854">
                <a:solidFill>
                  <a:srgbClr val="E5E1DA"/>
                </a:solidFill>
                <a:latin typeface="Lato"/>
                <a:ea typeface="Lato"/>
                <a:cs typeface="Lato"/>
                <a:sym typeface="Lato"/>
              </a:rPr>
              <a:t>: Ensure the platform is user-friendly.</a:t>
            </a:r>
          </a:p>
          <a:p>
            <a:pPr algn="l" marL="400387" indent="-200194" lvl="1">
              <a:lnSpc>
                <a:spcPts val="2596"/>
              </a:lnSpc>
              <a:buFont typeface="Arial"/>
              <a:buChar char="•"/>
            </a:pPr>
            <a:r>
              <a:rPr lang="en-US" b="true" sz="1854">
                <a:solidFill>
                  <a:srgbClr val="E5E1DA"/>
                </a:solidFill>
                <a:latin typeface="Lato Bold"/>
                <a:ea typeface="Lato Bold"/>
                <a:cs typeface="Lato Bold"/>
                <a:sym typeface="Lato Bold"/>
              </a:rPr>
              <a:t>Legal Counsel</a:t>
            </a:r>
            <a:r>
              <a:rPr lang="en-US" sz="1854">
                <a:solidFill>
                  <a:srgbClr val="E5E1DA"/>
                </a:solidFill>
                <a:latin typeface="Lato"/>
                <a:ea typeface="Lato"/>
                <a:cs typeface="Lato"/>
                <a:sym typeface="Lato"/>
              </a:rPr>
              <a:t>: Provides legal advice and ensures compliance.</a:t>
            </a:r>
          </a:p>
          <a:p>
            <a:pPr algn="l">
              <a:lnSpc>
                <a:spcPts val="4684"/>
              </a:lnSpc>
            </a:pPr>
          </a:p>
          <a:p>
            <a:pPr algn="l">
              <a:lnSpc>
                <a:spcPts val="2596"/>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0" y="1683080"/>
          <a:ext cx="17599051" cy="4276725"/>
        </p:xfrm>
        <a:graphic>
          <a:graphicData uri="http://schemas.openxmlformats.org/drawingml/2006/table">
            <a:tbl>
              <a:tblPr/>
              <a:tblGrid>
                <a:gridCol w="4151774"/>
                <a:gridCol w="4151774"/>
                <a:gridCol w="4798725"/>
                <a:gridCol w="4496778"/>
              </a:tblGrid>
              <a:tr h="816903">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Requirement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Priority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Stakeholder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Acceptance Criteria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53274">
                <a:tc>
                  <a:txBody>
                    <a:bodyPr anchor="t" rtlCol="false"/>
                    <a:lstStyle/>
                    <a:p>
                      <a:pPr algn="ctr">
                        <a:lnSpc>
                          <a:spcPts val="2659"/>
                        </a:lnSpc>
                        <a:defRPr/>
                      </a:pPr>
                      <a:r>
                        <a:rPr lang="en-US" sz="1899">
                          <a:solidFill>
                            <a:srgbClr val="FFFFFF"/>
                          </a:solidFill>
                          <a:latin typeface="Lato"/>
                          <a:ea typeface="Lato"/>
                          <a:cs typeface="Lato"/>
                          <a:sym typeface="Lato"/>
                        </a:rPr>
                        <a:t>Enable live streaming of sports events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High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End Uers/Sports Teams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Stream must be viewable with clear quality on mobile devices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53274">
                <a:tc>
                  <a:txBody>
                    <a:bodyPr anchor="t" rtlCol="false"/>
                    <a:lstStyle/>
                    <a:p>
                      <a:pPr algn="ctr">
                        <a:lnSpc>
                          <a:spcPts val="2659"/>
                        </a:lnSpc>
                        <a:defRPr/>
                      </a:pPr>
                      <a:r>
                        <a:rPr lang="en-US" sz="1899">
                          <a:solidFill>
                            <a:srgbClr val="FFFFFF"/>
                          </a:solidFill>
                          <a:latin typeface="Lato"/>
                          <a:ea typeface="Lato"/>
                          <a:cs typeface="Lato"/>
                          <a:sym typeface="Lato"/>
                        </a:rPr>
                        <a:t>Integrate scoring overlays with a real-time clock</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Medium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Team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Overlay updates automaticcally during live games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53274">
                <a:tc>
                  <a:txBody>
                    <a:bodyPr anchor="t" rtlCol="false"/>
                    <a:lstStyle/>
                    <a:p>
                      <a:pPr algn="ctr">
                        <a:lnSpc>
                          <a:spcPts val="2659"/>
                        </a:lnSpc>
                        <a:defRPr/>
                      </a:pPr>
                      <a:r>
                        <a:rPr lang="en-US" sz="1899">
                          <a:solidFill>
                            <a:srgbClr val="FFFFFF"/>
                          </a:solidFill>
                          <a:latin typeface="Lato"/>
                          <a:ea typeface="Lato"/>
                          <a:cs typeface="Lato"/>
                          <a:sym typeface="Lato"/>
                        </a:rPr>
                        <a:t>Allow users to generate sharebale clips during streams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High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End Users/Sports Teams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Users an easily share video clips across social media channels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aphicFrame>
        <p:nvGraphicFramePr>
          <p:cNvPr name="Table 3" id="3"/>
          <p:cNvGraphicFramePr>
            <a:graphicFrameLocks noGrp="true"/>
          </p:cNvGraphicFramePr>
          <p:nvPr/>
        </p:nvGraphicFramePr>
        <p:xfrm>
          <a:off x="0" y="6959988"/>
          <a:ext cx="17599051" cy="3133725"/>
        </p:xfrm>
        <a:graphic>
          <a:graphicData uri="http://schemas.openxmlformats.org/drawingml/2006/table">
            <a:tbl>
              <a:tblPr/>
              <a:tblGrid>
                <a:gridCol w="4399763"/>
                <a:gridCol w="4399763"/>
                <a:gridCol w="4399763"/>
                <a:gridCol w="4399763"/>
              </a:tblGrid>
              <a:tr h="819590">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Requirement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Priority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Stakeholder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Acceptance Criteria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57068">
                <a:tc>
                  <a:txBody>
                    <a:bodyPr anchor="t" rtlCol="false"/>
                    <a:lstStyle/>
                    <a:p>
                      <a:pPr algn="ctr">
                        <a:lnSpc>
                          <a:spcPts val="2659"/>
                        </a:lnSpc>
                        <a:defRPr/>
                      </a:pPr>
                      <a:r>
                        <a:rPr lang="en-US" sz="1899">
                          <a:solidFill>
                            <a:srgbClr val="FFFFFF"/>
                          </a:solidFill>
                          <a:latin typeface="Lato"/>
                          <a:ea typeface="Lato"/>
                          <a:cs typeface="Lato"/>
                          <a:sym typeface="Lato"/>
                        </a:rPr>
                        <a:t>Streaming should have a latency of less than 5 seconds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High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End users/Sports Teams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Latency verified during live game broadcasts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57068">
                <a:tc>
                  <a:txBody>
                    <a:bodyPr anchor="t" rtlCol="false"/>
                    <a:lstStyle/>
                    <a:p>
                      <a:pPr algn="ctr">
                        <a:lnSpc>
                          <a:spcPts val="2659"/>
                        </a:lnSpc>
                        <a:defRPr/>
                      </a:pPr>
                      <a:r>
                        <a:rPr lang="en-US" sz="1899">
                          <a:solidFill>
                            <a:srgbClr val="FFFFFF"/>
                          </a:solidFill>
                          <a:latin typeface="Lato"/>
                          <a:ea typeface="Lato"/>
                          <a:cs typeface="Lato"/>
                          <a:sym typeface="Lato"/>
                        </a:rPr>
                        <a:t>Application should support both IOS and Android devices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High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Team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Application successfully launched and tested on both platforms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4" id="4"/>
          <p:cNvSpPr txBox="true"/>
          <p:nvPr/>
        </p:nvSpPr>
        <p:spPr>
          <a:xfrm rot="0">
            <a:off x="274473" y="797197"/>
            <a:ext cx="13136029" cy="666808"/>
          </a:xfrm>
          <a:prstGeom prst="rect">
            <a:avLst/>
          </a:prstGeom>
        </p:spPr>
        <p:txBody>
          <a:bodyPr anchor="t" rtlCol="false" tIns="0" lIns="0" bIns="0" rIns="0">
            <a:spAutoFit/>
          </a:bodyPr>
          <a:lstStyle/>
          <a:p>
            <a:pPr algn="l">
              <a:lnSpc>
                <a:spcPts val="5246"/>
              </a:lnSpc>
              <a:spcBef>
                <a:spcPct val="0"/>
              </a:spcBef>
            </a:pPr>
            <a:r>
              <a:rPr lang="en-US" b="true" sz="3747">
                <a:solidFill>
                  <a:srgbClr val="E5E1DA"/>
                </a:solidFill>
                <a:latin typeface="Poppins Bold"/>
                <a:ea typeface="Poppins Bold"/>
                <a:cs typeface="Poppins Bold"/>
                <a:sym typeface="Poppins Bold"/>
              </a:rPr>
              <a:t>Functional Requirements:</a:t>
            </a:r>
          </a:p>
        </p:txBody>
      </p:sp>
      <p:sp>
        <p:nvSpPr>
          <p:cNvPr name="TextBox 5" id="5"/>
          <p:cNvSpPr txBox="true"/>
          <p:nvPr/>
        </p:nvSpPr>
        <p:spPr>
          <a:xfrm rot="0">
            <a:off x="5837513" y="0"/>
            <a:ext cx="9997114" cy="685801"/>
          </a:xfrm>
          <a:prstGeom prst="rect">
            <a:avLst/>
          </a:prstGeom>
        </p:spPr>
        <p:txBody>
          <a:bodyPr anchor="t" rtlCol="false" tIns="0" lIns="0" bIns="0" rIns="0">
            <a:spAutoFit/>
          </a:bodyPr>
          <a:lstStyle/>
          <a:p>
            <a:pPr algn="l">
              <a:lnSpc>
                <a:spcPts val="4950"/>
              </a:lnSpc>
            </a:pPr>
            <a:r>
              <a:rPr lang="en-US" sz="4500" b="true">
                <a:solidFill>
                  <a:srgbClr val="FBF9F1"/>
                </a:solidFill>
                <a:latin typeface="Poppins Bold"/>
                <a:ea typeface="Poppins Bold"/>
                <a:cs typeface="Poppins Bold"/>
                <a:sym typeface="Poppins Bold"/>
              </a:rPr>
              <a:t>PROJECT REQUIREMENT</a:t>
            </a:r>
          </a:p>
        </p:txBody>
      </p:sp>
      <p:sp>
        <p:nvSpPr>
          <p:cNvPr name="TextBox 6" id="6"/>
          <p:cNvSpPr txBox="true"/>
          <p:nvPr/>
        </p:nvSpPr>
        <p:spPr>
          <a:xfrm rot="0">
            <a:off x="274473" y="6074105"/>
            <a:ext cx="13136029" cy="666808"/>
          </a:xfrm>
          <a:prstGeom prst="rect">
            <a:avLst/>
          </a:prstGeom>
        </p:spPr>
        <p:txBody>
          <a:bodyPr anchor="t" rtlCol="false" tIns="0" lIns="0" bIns="0" rIns="0">
            <a:spAutoFit/>
          </a:bodyPr>
          <a:lstStyle/>
          <a:p>
            <a:pPr algn="l">
              <a:lnSpc>
                <a:spcPts val="5246"/>
              </a:lnSpc>
              <a:spcBef>
                <a:spcPct val="0"/>
              </a:spcBef>
            </a:pPr>
            <a:r>
              <a:rPr lang="en-US" b="true" sz="3747">
                <a:solidFill>
                  <a:srgbClr val="E5E1DA"/>
                </a:solidFill>
                <a:latin typeface="Poppins Bold"/>
                <a:ea typeface="Poppins Bold"/>
                <a:cs typeface="Poppins Bold"/>
                <a:sym typeface="Poppins Bold"/>
              </a:rPr>
              <a:t>Non-Functional Requirements:</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63367" y="971550"/>
            <a:ext cx="16048044" cy="8735078"/>
          </a:xfrm>
          <a:prstGeom prst="rect">
            <a:avLst/>
          </a:prstGeom>
        </p:spPr>
        <p:txBody>
          <a:bodyPr anchor="t" rtlCol="false" tIns="0" lIns="0" bIns="0" rIns="0">
            <a:spAutoFit/>
          </a:bodyPr>
          <a:lstStyle/>
          <a:p>
            <a:pPr algn="just" marL="501074" indent="-250537" lvl="1">
              <a:lnSpc>
                <a:spcPts val="3249"/>
              </a:lnSpc>
              <a:buFont typeface="Arial"/>
              <a:buChar char="•"/>
            </a:pPr>
            <a:r>
              <a:rPr lang="en-US" b="true" sz="2320">
                <a:solidFill>
                  <a:srgbClr val="E5E1DA"/>
                </a:solidFill>
                <a:latin typeface="Poppins Bold"/>
                <a:ea typeface="Poppins Bold"/>
                <a:cs typeface="Poppins Bold"/>
                <a:sym typeface="Poppins Bold"/>
              </a:rPr>
              <a:t>Project Objectives:</a:t>
            </a:r>
          </a:p>
          <a:p>
            <a:pPr algn="just" marL="918740" indent="-306247" lvl="2">
              <a:lnSpc>
                <a:spcPts val="2978"/>
              </a:lnSpc>
              <a:buFont typeface="Arial"/>
              <a:buChar char="⚬"/>
            </a:pPr>
            <a:r>
              <a:rPr lang="en-US" sz="2127">
                <a:solidFill>
                  <a:srgbClr val="E5E1DA"/>
                </a:solidFill>
                <a:latin typeface="Lato"/>
                <a:ea typeface="Lato"/>
                <a:cs typeface="Lato"/>
                <a:sym typeface="Lato"/>
              </a:rPr>
              <a:t>Provide a cloud-based streaming solution that simplifies live sports broadcasts.</a:t>
            </a:r>
          </a:p>
          <a:p>
            <a:pPr algn="just" marL="918740" indent="-306247" lvl="2">
              <a:lnSpc>
                <a:spcPts val="2978"/>
              </a:lnSpc>
              <a:buFont typeface="Arial"/>
              <a:buChar char="⚬"/>
            </a:pPr>
            <a:r>
              <a:rPr lang="en-US" sz="2127">
                <a:solidFill>
                  <a:srgbClr val="E5E1DA"/>
                </a:solidFill>
                <a:latin typeface="Lato"/>
                <a:ea typeface="Lato"/>
                <a:cs typeface="Lato"/>
                <a:sym typeface="Lato"/>
              </a:rPr>
              <a:t>Ensure that the software is intuitive for parents and volunteers to set up and use.</a:t>
            </a:r>
          </a:p>
          <a:p>
            <a:pPr algn="just" marL="918740" indent="-306247" lvl="2">
              <a:lnSpc>
                <a:spcPts val="2978"/>
              </a:lnSpc>
              <a:buFont typeface="Arial"/>
              <a:buChar char="⚬"/>
            </a:pPr>
            <a:r>
              <a:rPr lang="en-US" sz="2127">
                <a:solidFill>
                  <a:srgbClr val="E5E1DA"/>
                </a:solidFill>
                <a:latin typeface="Lato"/>
                <a:ea typeface="Lato"/>
                <a:cs typeface="Lato"/>
                <a:sym typeface="Lato"/>
              </a:rPr>
              <a:t>Integrate features like scoring overlays, remote scoring, and real-time clip sharing.</a:t>
            </a:r>
          </a:p>
          <a:p>
            <a:pPr algn="just">
              <a:lnSpc>
                <a:spcPts val="2978"/>
              </a:lnSpc>
            </a:pPr>
          </a:p>
          <a:p>
            <a:pPr algn="just" marL="501074" indent="-250537" lvl="1">
              <a:lnSpc>
                <a:spcPts val="3249"/>
              </a:lnSpc>
              <a:buFont typeface="Arial"/>
              <a:buChar char="•"/>
            </a:pPr>
            <a:r>
              <a:rPr lang="en-US" b="true" sz="2320">
                <a:solidFill>
                  <a:srgbClr val="E5E1DA"/>
                </a:solidFill>
                <a:latin typeface="Poppins Bold"/>
                <a:ea typeface="Poppins Bold"/>
                <a:cs typeface="Poppins Bold"/>
                <a:sym typeface="Poppins Bold"/>
              </a:rPr>
              <a:t>In-Scope Items:</a:t>
            </a:r>
          </a:p>
          <a:p>
            <a:pPr algn="just" marL="918740" indent="-306247" lvl="2">
              <a:lnSpc>
                <a:spcPts val="2978"/>
              </a:lnSpc>
              <a:buFont typeface="Arial"/>
              <a:buChar char="⚬"/>
            </a:pPr>
            <a:r>
              <a:rPr lang="en-US" sz="2127">
                <a:solidFill>
                  <a:srgbClr val="E5E1DA"/>
                </a:solidFill>
                <a:latin typeface="Lato"/>
                <a:ea typeface="Lato"/>
                <a:cs typeface="Lato"/>
                <a:sym typeface="Lato"/>
              </a:rPr>
              <a:t>Cloud streaming solution development.</a:t>
            </a:r>
          </a:p>
          <a:p>
            <a:pPr algn="just" marL="918740" indent="-306247" lvl="2">
              <a:lnSpc>
                <a:spcPts val="2978"/>
              </a:lnSpc>
              <a:buFont typeface="Arial"/>
              <a:buChar char="⚬"/>
            </a:pPr>
            <a:r>
              <a:rPr lang="en-US" sz="2127">
                <a:solidFill>
                  <a:srgbClr val="E5E1DA"/>
                </a:solidFill>
                <a:latin typeface="Lato"/>
                <a:ea typeface="Lato"/>
                <a:cs typeface="Lato"/>
                <a:sym typeface="Lato"/>
              </a:rPr>
              <a:t>Creation of mobile apps (iOS and Android).</a:t>
            </a:r>
          </a:p>
          <a:p>
            <a:pPr algn="just" marL="918740" indent="-306247" lvl="2">
              <a:lnSpc>
                <a:spcPts val="2978"/>
              </a:lnSpc>
              <a:buFont typeface="Arial"/>
              <a:buChar char="⚬"/>
            </a:pPr>
            <a:r>
              <a:rPr lang="en-US" sz="2127">
                <a:solidFill>
                  <a:srgbClr val="E5E1DA"/>
                </a:solidFill>
                <a:latin typeface="Lato"/>
                <a:ea typeface="Lato"/>
                <a:cs typeface="Lato"/>
                <a:sym typeface="Lato"/>
              </a:rPr>
              <a:t>Integration of overlays, scoring system, and sponsor logo display.</a:t>
            </a:r>
          </a:p>
          <a:p>
            <a:pPr algn="just" marL="918740" indent="-306247" lvl="2">
              <a:lnSpc>
                <a:spcPts val="2978"/>
              </a:lnSpc>
              <a:buFont typeface="Arial"/>
              <a:buChar char="⚬"/>
            </a:pPr>
            <a:r>
              <a:rPr lang="en-US" sz="2127">
                <a:solidFill>
                  <a:srgbClr val="E5E1DA"/>
                </a:solidFill>
                <a:latin typeface="Lato"/>
                <a:ea typeface="Lato"/>
                <a:cs typeface="Lato"/>
                <a:sym typeface="Lato"/>
              </a:rPr>
              <a:t>24x7 support for all users.</a:t>
            </a:r>
          </a:p>
          <a:p>
            <a:pPr algn="just">
              <a:lnSpc>
                <a:spcPts val="2978"/>
              </a:lnSpc>
            </a:pPr>
          </a:p>
          <a:p>
            <a:pPr algn="just" marL="501074" indent="-250537" lvl="1">
              <a:lnSpc>
                <a:spcPts val="3249"/>
              </a:lnSpc>
              <a:buFont typeface="Arial"/>
              <a:buChar char="•"/>
            </a:pPr>
            <a:r>
              <a:rPr lang="en-US" b="true" sz="2320">
                <a:solidFill>
                  <a:srgbClr val="E5E1DA"/>
                </a:solidFill>
                <a:latin typeface="Poppins Bold"/>
                <a:ea typeface="Poppins Bold"/>
                <a:cs typeface="Poppins Bold"/>
                <a:sym typeface="Poppins Bold"/>
              </a:rPr>
              <a:t>Out-of-scope Items:</a:t>
            </a:r>
          </a:p>
          <a:p>
            <a:pPr algn="just" marL="918740" indent="-306247" lvl="2">
              <a:lnSpc>
                <a:spcPts val="2978"/>
              </a:lnSpc>
              <a:buFont typeface="Arial"/>
              <a:buChar char="⚬"/>
            </a:pPr>
            <a:r>
              <a:rPr lang="en-US" sz="2127">
                <a:solidFill>
                  <a:srgbClr val="E5E1DA"/>
                </a:solidFill>
                <a:latin typeface="Lato"/>
                <a:ea typeface="Lato"/>
                <a:cs typeface="Lato"/>
                <a:sym typeface="Lato"/>
              </a:rPr>
              <a:t>Custom game analytics tools.</a:t>
            </a:r>
          </a:p>
          <a:p>
            <a:pPr algn="just" marL="918740" indent="-306247" lvl="2">
              <a:lnSpc>
                <a:spcPts val="2978"/>
              </a:lnSpc>
              <a:buFont typeface="Arial"/>
              <a:buChar char="⚬"/>
            </a:pPr>
            <a:r>
              <a:rPr lang="en-US" sz="2127">
                <a:solidFill>
                  <a:srgbClr val="E5E1DA"/>
                </a:solidFill>
                <a:latin typeface="Lato"/>
                <a:ea typeface="Lato"/>
                <a:cs typeface="Lato"/>
                <a:sym typeface="Lato"/>
              </a:rPr>
              <a:t>Advanced video editing functionalities.</a:t>
            </a:r>
          </a:p>
          <a:p>
            <a:pPr algn="just" marL="918740" indent="-306247" lvl="2">
              <a:lnSpc>
                <a:spcPts val="2978"/>
              </a:lnSpc>
              <a:buFont typeface="Arial"/>
              <a:buChar char="⚬"/>
            </a:pPr>
            <a:r>
              <a:rPr lang="en-US" sz="2127">
                <a:solidFill>
                  <a:srgbClr val="E5E1DA"/>
                </a:solidFill>
                <a:latin typeface="Lato"/>
                <a:ea typeface="Lato"/>
                <a:cs typeface="Lato"/>
                <a:sym typeface="Lato"/>
              </a:rPr>
              <a:t>Hardware development (beyond standard cameras and tripods).</a:t>
            </a:r>
          </a:p>
          <a:p>
            <a:pPr algn="just">
              <a:lnSpc>
                <a:spcPts val="2978"/>
              </a:lnSpc>
            </a:pPr>
          </a:p>
          <a:p>
            <a:pPr algn="just" marL="501074" indent="-250537" lvl="1">
              <a:lnSpc>
                <a:spcPts val="3249"/>
              </a:lnSpc>
              <a:buFont typeface="Arial"/>
              <a:buChar char="•"/>
            </a:pPr>
            <a:r>
              <a:rPr lang="en-US" b="true" sz="2320">
                <a:solidFill>
                  <a:srgbClr val="E5E1DA"/>
                </a:solidFill>
                <a:latin typeface="Poppins Bold"/>
                <a:ea typeface="Poppins Bold"/>
                <a:cs typeface="Poppins Bold"/>
                <a:sym typeface="Poppins Bold"/>
              </a:rPr>
              <a:t>Assumptions:</a:t>
            </a:r>
          </a:p>
          <a:p>
            <a:pPr algn="just" marL="918740" indent="-306247" lvl="2">
              <a:lnSpc>
                <a:spcPts val="2978"/>
              </a:lnSpc>
              <a:buFont typeface="Arial"/>
              <a:buChar char="⚬"/>
            </a:pPr>
            <a:r>
              <a:rPr lang="en-US" sz="2127">
                <a:solidFill>
                  <a:srgbClr val="E5E1DA"/>
                </a:solidFill>
                <a:latin typeface="Lato"/>
                <a:ea typeface="Lato"/>
                <a:cs typeface="Lato"/>
                <a:sym typeface="Lato"/>
              </a:rPr>
              <a:t>Adequate internet bandwidth will be available for all users during live broadcasts.</a:t>
            </a:r>
          </a:p>
          <a:p>
            <a:pPr algn="just" marL="918740" indent="-306247" lvl="2">
              <a:lnSpc>
                <a:spcPts val="2978"/>
              </a:lnSpc>
              <a:buFont typeface="Arial"/>
              <a:buChar char="⚬"/>
            </a:pPr>
            <a:r>
              <a:rPr lang="en-US" sz="2127">
                <a:solidFill>
                  <a:srgbClr val="E5E1DA"/>
                </a:solidFill>
                <a:latin typeface="Lato"/>
                <a:ea typeface="Lato"/>
                <a:cs typeface="Lato"/>
                <a:sym typeface="Lato"/>
              </a:rPr>
              <a:t>Hardware setup will be completed by volunteers with minimal training.</a:t>
            </a:r>
          </a:p>
          <a:p>
            <a:pPr algn="just">
              <a:lnSpc>
                <a:spcPts val="2978"/>
              </a:lnSpc>
            </a:pPr>
          </a:p>
          <a:p>
            <a:pPr algn="just" marL="501074" indent="-250537" lvl="1">
              <a:lnSpc>
                <a:spcPts val="3249"/>
              </a:lnSpc>
              <a:buFont typeface="Arial"/>
              <a:buChar char="•"/>
            </a:pPr>
            <a:r>
              <a:rPr lang="en-US" b="true" sz="2320">
                <a:solidFill>
                  <a:srgbClr val="E5E1DA"/>
                </a:solidFill>
                <a:latin typeface="Poppins Bold"/>
                <a:ea typeface="Poppins Bold"/>
                <a:cs typeface="Poppins Bold"/>
                <a:sym typeface="Poppins Bold"/>
              </a:rPr>
              <a:t>Constraints:</a:t>
            </a:r>
          </a:p>
          <a:p>
            <a:pPr algn="just" marL="918740" indent="-306247" lvl="2">
              <a:lnSpc>
                <a:spcPts val="2978"/>
              </a:lnSpc>
              <a:buFont typeface="Arial"/>
              <a:buChar char="⚬"/>
            </a:pPr>
            <a:r>
              <a:rPr lang="en-US" sz="2127">
                <a:solidFill>
                  <a:srgbClr val="E5E1DA"/>
                </a:solidFill>
                <a:latin typeface="Lato"/>
                <a:ea typeface="Lato"/>
                <a:cs typeface="Lato"/>
                <a:sym typeface="Lato"/>
              </a:rPr>
              <a:t>The project must remain within the $10 Million budget limit.</a:t>
            </a:r>
          </a:p>
          <a:p>
            <a:pPr algn="just" marL="918740" indent="-306247" lvl="2">
              <a:lnSpc>
                <a:spcPts val="2978"/>
              </a:lnSpc>
              <a:buFont typeface="Arial"/>
              <a:buChar char="⚬"/>
            </a:pPr>
            <a:r>
              <a:rPr lang="en-US" sz="2127">
                <a:solidFill>
                  <a:srgbClr val="E5E1DA"/>
                </a:solidFill>
                <a:latin typeface="Lato"/>
                <a:ea typeface="Lato"/>
                <a:cs typeface="Lato"/>
                <a:sym typeface="Lato"/>
              </a:rPr>
              <a:t>Project completion is required before the start of the sports season (specific date).</a:t>
            </a:r>
          </a:p>
        </p:txBody>
      </p:sp>
      <p:sp>
        <p:nvSpPr>
          <p:cNvPr name="TextBox 3" id="3"/>
          <p:cNvSpPr txBox="true"/>
          <p:nvPr/>
        </p:nvSpPr>
        <p:spPr>
          <a:xfrm rot="0">
            <a:off x="5704340" y="0"/>
            <a:ext cx="7306749" cy="800735"/>
          </a:xfrm>
          <a:prstGeom prst="rect">
            <a:avLst/>
          </a:prstGeom>
        </p:spPr>
        <p:txBody>
          <a:bodyPr anchor="t" rtlCol="false" tIns="0" lIns="0" bIns="0" rIns="0">
            <a:spAutoFit/>
          </a:bodyPr>
          <a:lstStyle/>
          <a:p>
            <a:pPr algn="l">
              <a:lnSpc>
                <a:spcPts val="5830"/>
              </a:lnSpc>
            </a:pPr>
            <a:r>
              <a:rPr lang="en-US" sz="5300" b="true">
                <a:solidFill>
                  <a:srgbClr val="FBF9F1"/>
                </a:solidFill>
                <a:latin typeface="Poppins Bold"/>
                <a:ea typeface="Poppins Bold"/>
                <a:cs typeface="Poppins Bold"/>
                <a:sym typeface="Poppins Bold"/>
              </a:rPr>
              <a:t>PROJECT SCOPE</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142" y="2020547"/>
          <a:ext cx="18083716" cy="6515100"/>
        </p:xfrm>
        <a:graphic>
          <a:graphicData uri="http://schemas.openxmlformats.org/drawingml/2006/table">
            <a:tbl>
              <a:tblPr/>
              <a:tblGrid>
                <a:gridCol w="4520929"/>
                <a:gridCol w="4520929"/>
                <a:gridCol w="4520929"/>
                <a:gridCol w="4520929"/>
              </a:tblGrid>
              <a:tr h="814388">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Task</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Task Name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Duration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Dependencies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Project Start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1 day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None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Requirements gathering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5 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Platform design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15 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App design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10 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Streaming Engine Development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20 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App Development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40 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7</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Key Feature Integration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15 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5549092" y="275590"/>
            <a:ext cx="9997114" cy="753110"/>
          </a:xfrm>
          <a:prstGeom prst="rect">
            <a:avLst/>
          </a:prstGeom>
        </p:spPr>
        <p:txBody>
          <a:bodyPr anchor="t" rtlCol="false" tIns="0" lIns="0" bIns="0" rIns="0">
            <a:spAutoFit/>
          </a:bodyPr>
          <a:lstStyle/>
          <a:p>
            <a:pPr algn="l">
              <a:lnSpc>
                <a:spcPts val="5830"/>
              </a:lnSpc>
            </a:pPr>
            <a:r>
              <a:rPr lang="en-US" sz="5300" b="true">
                <a:solidFill>
                  <a:srgbClr val="FBF9F1"/>
                </a:solidFill>
                <a:latin typeface="Lato Bold"/>
                <a:ea typeface="Lato Bold"/>
                <a:cs typeface="Lato Bold"/>
                <a:sym typeface="Lato Bold"/>
              </a:rPr>
              <a:t>PROJECT SCHEDULE</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142" y="2009332"/>
          <a:ext cx="18083716" cy="6515100"/>
        </p:xfrm>
        <a:graphic>
          <a:graphicData uri="http://schemas.openxmlformats.org/drawingml/2006/table">
            <a:tbl>
              <a:tblPr/>
              <a:tblGrid>
                <a:gridCol w="4520929"/>
                <a:gridCol w="4520929"/>
                <a:gridCol w="4520929"/>
                <a:gridCol w="4520929"/>
              </a:tblGrid>
              <a:tr h="814388">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Task</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Task Name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Duration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Dependencies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international regulation approval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70 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5, task 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platform testing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10 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10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App testing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10 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11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final debugging and bug fixing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10 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5, task 6, task 7</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12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Marketing and prelaucnh campaign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15 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8, task 11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13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final review and approval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5 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11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4388">
                <a:tc>
                  <a:txBody>
                    <a:bodyPr anchor="t" rtlCol="false"/>
                    <a:lstStyle/>
                    <a:p>
                      <a:pPr algn="ctr">
                        <a:lnSpc>
                          <a:spcPts val="2659"/>
                        </a:lnSpc>
                        <a:defRPr/>
                      </a:pPr>
                      <a:r>
                        <a:rPr lang="en-US" sz="1899">
                          <a:solidFill>
                            <a:srgbClr val="FFFFFF"/>
                          </a:solidFill>
                          <a:latin typeface="Lato"/>
                          <a:ea typeface="Lato"/>
                          <a:cs typeface="Lato"/>
                          <a:sym typeface="Lato"/>
                        </a:rPr>
                        <a:t>14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Product launch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1 day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task 13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4414636" y="595714"/>
            <a:ext cx="9997114" cy="647701"/>
          </a:xfrm>
          <a:prstGeom prst="rect">
            <a:avLst/>
          </a:prstGeom>
        </p:spPr>
        <p:txBody>
          <a:bodyPr anchor="t" rtlCol="false" tIns="0" lIns="0" bIns="0" rIns="0">
            <a:spAutoFit/>
          </a:bodyPr>
          <a:lstStyle/>
          <a:p>
            <a:pPr algn="l">
              <a:lnSpc>
                <a:spcPts val="4950"/>
              </a:lnSpc>
            </a:pPr>
            <a:r>
              <a:rPr lang="en-US" sz="4500" b="true">
                <a:solidFill>
                  <a:srgbClr val="FBF9F1"/>
                </a:solidFill>
                <a:latin typeface="Lato Bold"/>
                <a:ea typeface="Lato Bold"/>
                <a:cs typeface="Lato Bold"/>
                <a:sym typeface="Lato Bold"/>
              </a:rPr>
              <a:t>PROJECT SCHEDULE CONTINUED</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703015"/>
            <a:ext cx="4366933" cy="932720"/>
            <a:chOff x="0" y="0"/>
            <a:chExt cx="1150139" cy="245655"/>
          </a:xfrm>
        </p:grpSpPr>
        <p:sp>
          <p:nvSpPr>
            <p:cNvPr name="Freeform 3" id="3"/>
            <p:cNvSpPr/>
            <p:nvPr/>
          </p:nvSpPr>
          <p:spPr>
            <a:xfrm flipH="false" flipV="false" rot="0">
              <a:off x="0" y="0"/>
              <a:ext cx="1150139" cy="245655"/>
            </a:xfrm>
            <a:custGeom>
              <a:avLst/>
              <a:gdLst/>
              <a:ahLst/>
              <a:cxnLst/>
              <a:rect r="r" b="b" t="t" l="l"/>
              <a:pathLst>
                <a:path h="245655" w="1150139">
                  <a:moveTo>
                    <a:pt x="106371" y="0"/>
                  </a:moveTo>
                  <a:lnTo>
                    <a:pt x="1043768" y="0"/>
                  </a:lnTo>
                  <a:cubicBezTo>
                    <a:pt x="1071979" y="0"/>
                    <a:pt x="1099035" y="11207"/>
                    <a:pt x="1118983" y="31155"/>
                  </a:cubicBezTo>
                  <a:cubicBezTo>
                    <a:pt x="1138932" y="51104"/>
                    <a:pt x="1150139" y="78160"/>
                    <a:pt x="1150139" y="106371"/>
                  </a:cubicBezTo>
                  <a:lnTo>
                    <a:pt x="1150139" y="139284"/>
                  </a:lnTo>
                  <a:cubicBezTo>
                    <a:pt x="1150139" y="198031"/>
                    <a:pt x="1102515" y="245655"/>
                    <a:pt x="1043768" y="245655"/>
                  </a:cubicBezTo>
                  <a:lnTo>
                    <a:pt x="106371" y="245655"/>
                  </a:lnTo>
                  <a:cubicBezTo>
                    <a:pt x="78160" y="245655"/>
                    <a:pt x="51104" y="234448"/>
                    <a:pt x="31155" y="214499"/>
                  </a:cubicBezTo>
                  <a:cubicBezTo>
                    <a:pt x="11207" y="194551"/>
                    <a:pt x="0" y="167495"/>
                    <a:pt x="0" y="139284"/>
                  </a:cubicBezTo>
                  <a:lnTo>
                    <a:pt x="0" y="106371"/>
                  </a:lnTo>
                  <a:cubicBezTo>
                    <a:pt x="0" y="78160"/>
                    <a:pt x="11207" y="51104"/>
                    <a:pt x="31155" y="31155"/>
                  </a:cubicBezTo>
                  <a:cubicBezTo>
                    <a:pt x="51104" y="11207"/>
                    <a:pt x="78160" y="0"/>
                    <a:pt x="106371" y="0"/>
                  </a:cubicBezTo>
                  <a:close/>
                </a:path>
              </a:pathLst>
            </a:custGeom>
            <a:solidFill>
              <a:srgbClr val="FFD944"/>
            </a:solidFill>
            <a:ln w="38100" cap="rnd">
              <a:solidFill>
                <a:srgbClr val="FFD944"/>
              </a:solidFill>
              <a:prstDash val="solid"/>
              <a:round/>
            </a:ln>
          </p:spPr>
        </p:sp>
        <p:sp>
          <p:nvSpPr>
            <p:cNvPr name="TextBox 4" id="4"/>
            <p:cNvSpPr txBox="true"/>
            <p:nvPr/>
          </p:nvSpPr>
          <p:spPr>
            <a:xfrm>
              <a:off x="0" y="-47625"/>
              <a:ext cx="1150139" cy="293280"/>
            </a:xfrm>
            <a:prstGeom prst="rect">
              <a:avLst/>
            </a:prstGeom>
          </p:spPr>
          <p:txBody>
            <a:bodyPr anchor="ctr" rtlCol="false" tIns="50800" lIns="50800" bIns="50800" rIns="50800"/>
            <a:lstStyle/>
            <a:p>
              <a:pPr algn="ctr">
                <a:lnSpc>
                  <a:spcPts val="3499"/>
                </a:lnSpc>
              </a:pPr>
              <a:r>
                <a:rPr lang="en-US" b="true" sz="2499">
                  <a:solidFill>
                    <a:srgbClr val="000000"/>
                  </a:solidFill>
                  <a:latin typeface="Lato Bold"/>
                  <a:ea typeface="Lato Bold"/>
                  <a:cs typeface="Lato Bold"/>
                  <a:sym typeface="Lato Bold"/>
                </a:rPr>
                <a:t>1. Identifying Critical Tasks:</a:t>
              </a:r>
            </a:p>
          </p:txBody>
        </p:sp>
      </p:grpSp>
      <p:grpSp>
        <p:nvGrpSpPr>
          <p:cNvPr name="Group 5" id="5"/>
          <p:cNvGrpSpPr/>
          <p:nvPr/>
        </p:nvGrpSpPr>
        <p:grpSpPr>
          <a:xfrm rot="0">
            <a:off x="6960534" y="1818383"/>
            <a:ext cx="4366933" cy="932720"/>
            <a:chOff x="0" y="0"/>
            <a:chExt cx="1150139" cy="245655"/>
          </a:xfrm>
        </p:grpSpPr>
        <p:sp>
          <p:nvSpPr>
            <p:cNvPr name="Freeform 6" id="6"/>
            <p:cNvSpPr/>
            <p:nvPr/>
          </p:nvSpPr>
          <p:spPr>
            <a:xfrm flipH="false" flipV="false" rot="0">
              <a:off x="0" y="0"/>
              <a:ext cx="1150139" cy="245655"/>
            </a:xfrm>
            <a:custGeom>
              <a:avLst/>
              <a:gdLst/>
              <a:ahLst/>
              <a:cxnLst/>
              <a:rect r="r" b="b" t="t" l="l"/>
              <a:pathLst>
                <a:path h="245655" w="1150139">
                  <a:moveTo>
                    <a:pt x="106371" y="0"/>
                  </a:moveTo>
                  <a:lnTo>
                    <a:pt x="1043768" y="0"/>
                  </a:lnTo>
                  <a:cubicBezTo>
                    <a:pt x="1071979" y="0"/>
                    <a:pt x="1099035" y="11207"/>
                    <a:pt x="1118983" y="31155"/>
                  </a:cubicBezTo>
                  <a:cubicBezTo>
                    <a:pt x="1138932" y="51104"/>
                    <a:pt x="1150139" y="78160"/>
                    <a:pt x="1150139" y="106371"/>
                  </a:cubicBezTo>
                  <a:lnTo>
                    <a:pt x="1150139" y="139284"/>
                  </a:lnTo>
                  <a:cubicBezTo>
                    <a:pt x="1150139" y="198031"/>
                    <a:pt x="1102515" y="245655"/>
                    <a:pt x="1043768" y="245655"/>
                  </a:cubicBezTo>
                  <a:lnTo>
                    <a:pt x="106371" y="245655"/>
                  </a:lnTo>
                  <a:cubicBezTo>
                    <a:pt x="78160" y="245655"/>
                    <a:pt x="51104" y="234448"/>
                    <a:pt x="31155" y="214499"/>
                  </a:cubicBezTo>
                  <a:cubicBezTo>
                    <a:pt x="11207" y="194551"/>
                    <a:pt x="0" y="167495"/>
                    <a:pt x="0" y="139284"/>
                  </a:cubicBezTo>
                  <a:lnTo>
                    <a:pt x="0" y="106371"/>
                  </a:lnTo>
                  <a:cubicBezTo>
                    <a:pt x="0" y="78160"/>
                    <a:pt x="11207" y="51104"/>
                    <a:pt x="31155" y="31155"/>
                  </a:cubicBezTo>
                  <a:cubicBezTo>
                    <a:pt x="51104" y="11207"/>
                    <a:pt x="78160" y="0"/>
                    <a:pt x="106371" y="0"/>
                  </a:cubicBezTo>
                  <a:close/>
                </a:path>
              </a:pathLst>
            </a:custGeom>
            <a:solidFill>
              <a:srgbClr val="FFD944"/>
            </a:solidFill>
            <a:ln w="38100" cap="rnd">
              <a:solidFill>
                <a:srgbClr val="FFD944"/>
              </a:solidFill>
              <a:prstDash val="solid"/>
              <a:round/>
            </a:ln>
          </p:spPr>
        </p:sp>
        <p:sp>
          <p:nvSpPr>
            <p:cNvPr name="TextBox 7" id="7"/>
            <p:cNvSpPr txBox="true"/>
            <p:nvPr/>
          </p:nvSpPr>
          <p:spPr>
            <a:xfrm>
              <a:off x="0" y="-47625"/>
              <a:ext cx="1150139" cy="293280"/>
            </a:xfrm>
            <a:prstGeom prst="rect">
              <a:avLst/>
            </a:prstGeom>
          </p:spPr>
          <p:txBody>
            <a:bodyPr anchor="ctr" rtlCol="false" tIns="50800" lIns="50800" bIns="50800" rIns="50800"/>
            <a:lstStyle/>
            <a:p>
              <a:pPr algn="ctr">
                <a:lnSpc>
                  <a:spcPts val="3499"/>
                </a:lnSpc>
              </a:pPr>
              <a:r>
                <a:rPr lang="en-US" b="true" sz="2499">
                  <a:solidFill>
                    <a:srgbClr val="000000"/>
                  </a:solidFill>
                  <a:latin typeface="Lato Bold"/>
                  <a:ea typeface="Lato Bold"/>
                  <a:cs typeface="Lato Bold"/>
                  <a:sym typeface="Lato Bold"/>
                </a:rPr>
                <a:t>2. Task Dependencies:</a:t>
              </a:r>
            </a:p>
          </p:txBody>
        </p:sp>
      </p:grpSp>
      <p:grpSp>
        <p:nvGrpSpPr>
          <p:cNvPr name="Group 8" id="8"/>
          <p:cNvGrpSpPr/>
          <p:nvPr/>
        </p:nvGrpSpPr>
        <p:grpSpPr>
          <a:xfrm rot="0">
            <a:off x="12701836" y="1818383"/>
            <a:ext cx="4366933" cy="932720"/>
            <a:chOff x="0" y="0"/>
            <a:chExt cx="1150139" cy="245655"/>
          </a:xfrm>
        </p:grpSpPr>
        <p:sp>
          <p:nvSpPr>
            <p:cNvPr name="Freeform 9" id="9"/>
            <p:cNvSpPr/>
            <p:nvPr/>
          </p:nvSpPr>
          <p:spPr>
            <a:xfrm flipH="false" flipV="false" rot="0">
              <a:off x="0" y="0"/>
              <a:ext cx="1150139" cy="245655"/>
            </a:xfrm>
            <a:custGeom>
              <a:avLst/>
              <a:gdLst/>
              <a:ahLst/>
              <a:cxnLst/>
              <a:rect r="r" b="b" t="t" l="l"/>
              <a:pathLst>
                <a:path h="245655" w="1150139">
                  <a:moveTo>
                    <a:pt x="106371" y="0"/>
                  </a:moveTo>
                  <a:lnTo>
                    <a:pt x="1043768" y="0"/>
                  </a:lnTo>
                  <a:cubicBezTo>
                    <a:pt x="1071979" y="0"/>
                    <a:pt x="1099035" y="11207"/>
                    <a:pt x="1118983" y="31155"/>
                  </a:cubicBezTo>
                  <a:cubicBezTo>
                    <a:pt x="1138932" y="51104"/>
                    <a:pt x="1150139" y="78160"/>
                    <a:pt x="1150139" y="106371"/>
                  </a:cubicBezTo>
                  <a:lnTo>
                    <a:pt x="1150139" y="139284"/>
                  </a:lnTo>
                  <a:cubicBezTo>
                    <a:pt x="1150139" y="198031"/>
                    <a:pt x="1102515" y="245655"/>
                    <a:pt x="1043768" y="245655"/>
                  </a:cubicBezTo>
                  <a:lnTo>
                    <a:pt x="106371" y="245655"/>
                  </a:lnTo>
                  <a:cubicBezTo>
                    <a:pt x="78160" y="245655"/>
                    <a:pt x="51104" y="234448"/>
                    <a:pt x="31155" y="214499"/>
                  </a:cubicBezTo>
                  <a:cubicBezTo>
                    <a:pt x="11207" y="194551"/>
                    <a:pt x="0" y="167495"/>
                    <a:pt x="0" y="139284"/>
                  </a:cubicBezTo>
                  <a:lnTo>
                    <a:pt x="0" y="106371"/>
                  </a:lnTo>
                  <a:cubicBezTo>
                    <a:pt x="0" y="78160"/>
                    <a:pt x="11207" y="51104"/>
                    <a:pt x="31155" y="31155"/>
                  </a:cubicBezTo>
                  <a:cubicBezTo>
                    <a:pt x="51104" y="11207"/>
                    <a:pt x="78160" y="0"/>
                    <a:pt x="106371" y="0"/>
                  </a:cubicBezTo>
                  <a:close/>
                </a:path>
              </a:pathLst>
            </a:custGeom>
            <a:solidFill>
              <a:srgbClr val="FFD944"/>
            </a:solidFill>
            <a:ln w="38100" cap="rnd">
              <a:solidFill>
                <a:srgbClr val="FFD944"/>
              </a:solidFill>
              <a:prstDash val="solid"/>
              <a:round/>
            </a:ln>
          </p:spPr>
        </p:sp>
        <p:sp>
          <p:nvSpPr>
            <p:cNvPr name="TextBox 10" id="10"/>
            <p:cNvSpPr txBox="true"/>
            <p:nvPr/>
          </p:nvSpPr>
          <p:spPr>
            <a:xfrm>
              <a:off x="0" y="-47625"/>
              <a:ext cx="1150139" cy="293280"/>
            </a:xfrm>
            <a:prstGeom prst="rect">
              <a:avLst/>
            </a:prstGeom>
          </p:spPr>
          <p:txBody>
            <a:bodyPr anchor="ctr" rtlCol="false" tIns="50800" lIns="50800" bIns="50800" rIns="50800"/>
            <a:lstStyle/>
            <a:p>
              <a:pPr algn="ctr">
                <a:lnSpc>
                  <a:spcPts val="3499"/>
                </a:lnSpc>
              </a:pPr>
              <a:r>
                <a:rPr lang="en-US" b="true" sz="2499">
                  <a:solidFill>
                    <a:srgbClr val="000000"/>
                  </a:solidFill>
                  <a:latin typeface="Lato Bold"/>
                  <a:ea typeface="Lato Bold"/>
                  <a:cs typeface="Lato Bold"/>
                  <a:sym typeface="Lato Bold"/>
                </a:rPr>
                <a:t>3. Critical Path Visualization</a:t>
              </a:r>
            </a:p>
          </p:txBody>
        </p:sp>
      </p:grpSp>
      <p:graphicFrame>
        <p:nvGraphicFramePr>
          <p:cNvPr name="Table 11" id="11"/>
          <p:cNvGraphicFramePr>
            <a:graphicFrameLocks noGrp="true"/>
          </p:cNvGraphicFramePr>
          <p:nvPr/>
        </p:nvGraphicFramePr>
        <p:xfrm>
          <a:off x="1028700" y="3087359"/>
          <a:ext cx="11149613" cy="6621379"/>
        </p:xfrm>
        <a:graphic>
          <a:graphicData uri="http://schemas.openxmlformats.org/drawingml/2006/table">
            <a:tbl>
              <a:tblPr/>
              <a:tblGrid>
                <a:gridCol w="4759585"/>
                <a:gridCol w="6390029"/>
              </a:tblGrid>
              <a:tr h="2235805">
                <a:tc>
                  <a:txBody>
                    <a:bodyPr anchor="t" rtlCol="false"/>
                    <a:lstStyle/>
                    <a:p>
                      <a:pPr algn="ctr">
                        <a:lnSpc>
                          <a:spcPts val="2940"/>
                        </a:lnSpc>
                        <a:defRPr/>
                      </a:pPr>
                      <a:r>
                        <a:rPr lang="en-US" sz="2100" b="true">
                          <a:solidFill>
                            <a:srgbClr val="E5E1DA"/>
                          </a:solidFill>
                          <a:latin typeface="Poppins Bold"/>
                          <a:ea typeface="Poppins Bold"/>
                          <a:cs typeface="Poppins Bold"/>
                          <a:sym typeface="Poppins Bold"/>
                        </a:rPr>
                        <a:t>System Development</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ctr">
                        <a:lnSpc>
                          <a:spcPts val="2940"/>
                        </a:lnSpc>
                        <a:defRPr/>
                      </a:pPr>
                      <a:r>
                        <a:rPr lang="en-US" sz="2100" b="true">
                          <a:solidFill>
                            <a:srgbClr val="E5E1DA"/>
                          </a:solidFill>
                          <a:latin typeface="Poppins Bold"/>
                          <a:ea typeface="Poppins Bold"/>
                          <a:cs typeface="Poppins Bold"/>
                          <a:sym typeface="Poppins Bold"/>
                        </a:rPr>
                        <a:t>System Development must be completed before the platform is tested.</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r>
              <a:tr h="2453275">
                <a:tc>
                  <a:txBody>
                    <a:bodyPr anchor="t" rtlCol="false"/>
                    <a:lstStyle/>
                    <a:p>
                      <a:pPr algn="ctr">
                        <a:lnSpc>
                          <a:spcPts val="2940"/>
                        </a:lnSpc>
                        <a:defRPr/>
                      </a:pPr>
                      <a:r>
                        <a:rPr lang="en-US" sz="2100" b="true">
                          <a:solidFill>
                            <a:srgbClr val="E5E1DA"/>
                          </a:solidFill>
                          <a:latin typeface="Poppins Bold"/>
                          <a:ea typeface="Poppins Bold"/>
                          <a:cs typeface="Poppins Bold"/>
                          <a:sym typeface="Poppins Bold"/>
                        </a:rPr>
                        <a:t>Regulatory Approvals (International)</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l">
                        <a:lnSpc>
                          <a:spcPts val="2940"/>
                        </a:lnSpc>
                        <a:defRPr/>
                      </a:pPr>
                      <a:r>
                        <a:rPr lang="en-US" sz="2100" b="true">
                          <a:solidFill>
                            <a:srgbClr val="E5E1DA"/>
                          </a:solidFill>
                          <a:latin typeface="Poppins Bold"/>
                          <a:ea typeface="Poppins Bold"/>
                          <a:cs typeface="Poppins Bold"/>
                          <a:sym typeface="Poppins Bold"/>
                        </a:rPr>
                        <a:t>Regulatory Approvals are a pre-requisite for launching the platform in international markets.</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r>
              <a:tr h="1932299">
                <a:tc>
                  <a:txBody>
                    <a:bodyPr anchor="t" rtlCol="false"/>
                    <a:lstStyle/>
                    <a:p>
                      <a:pPr algn="ctr">
                        <a:lnSpc>
                          <a:spcPts val="2940"/>
                        </a:lnSpc>
                        <a:defRPr/>
                      </a:pPr>
                      <a:r>
                        <a:rPr lang="en-US" sz="2100" b="true">
                          <a:solidFill>
                            <a:srgbClr val="E5E1DA"/>
                          </a:solidFill>
                          <a:latin typeface="Poppins Bold"/>
                          <a:ea typeface="Poppins Bold"/>
                          <a:cs typeface="Poppins Bold"/>
                          <a:sym typeface="Poppins Bold"/>
                        </a:rPr>
                        <a:t>Platform Testing and Launch</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l">
                        <a:lnSpc>
                          <a:spcPts val="2940"/>
                        </a:lnSpc>
                        <a:defRPr/>
                      </a:pPr>
                      <a:r>
                        <a:rPr lang="en-US" sz="2100" b="true">
                          <a:solidFill>
                            <a:srgbClr val="E5E1DA"/>
                          </a:solidFill>
                          <a:latin typeface="Poppins Bold"/>
                          <a:ea typeface="Poppins Bold"/>
                          <a:cs typeface="Poppins Bold"/>
                          <a:sym typeface="Poppins Bold"/>
                        </a:rPr>
                        <a:t>Marketing &amp; Launch are dependent on both system completion and regulatory approval.</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r>
            </a:tbl>
          </a:graphicData>
        </a:graphic>
      </p:graphicFrame>
      <p:sp>
        <p:nvSpPr>
          <p:cNvPr name="TextBox 12" id="12"/>
          <p:cNvSpPr txBox="true"/>
          <p:nvPr/>
        </p:nvSpPr>
        <p:spPr>
          <a:xfrm rot="0">
            <a:off x="4534912" y="0"/>
            <a:ext cx="9564281" cy="758825"/>
          </a:xfrm>
          <a:prstGeom prst="rect">
            <a:avLst/>
          </a:prstGeom>
        </p:spPr>
        <p:txBody>
          <a:bodyPr anchor="t" rtlCol="false" tIns="0" lIns="0" bIns="0" rIns="0">
            <a:spAutoFit/>
          </a:bodyPr>
          <a:lstStyle/>
          <a:p>
            <a:pPr algn="ctr">
              <a:lnSpc>
                <a:spcPts val="5500"/>
              </a:lnSpc>
            </a:pPr>
            <a:r>
              <a:rPr lang="en-US" b="true" sz="5000">
                <a:solidFill>
                  <a:srgbClr val="FBF9F1"/>
                </a:solidFill>
                <a:latin typeface="Poppins Bold"/>
                <a:ea typeface="Poppins Bold"/>
                <a:cs typeface="Poppins Bold"/>
                <a:sym typeface="Poppins Bold"/>
              </a:rPr>
              <a:t>CRITICAL PATH ANALYSIS</a:t>
            </a:r>
          </a:p>
        </p:txBody>
      </p:sp>
      <p:graphicFrame>
        <p:nvGraphicFramePr>
          <p:cNvPr name="Table 13" id="13"/>
          <p:cNvGraphicFramePr>
            <a:graphicFrameLocks noGrp="true"/>
          </p:cNvGraphicFramePr>
          <p:nvPr/>
        </p:nvGraphicFramePr>
        <p:xfrm>
          <a:off x="12701836" y="3087359"/>
          <a:ext cx="4366933" cy="4115490"/>
        </p:xfrm>
        <a:graphic>
          <a:graphicData uri="http://schemas.openxmlformats.org/drawingml/2006/table">
            <a:tbl>
              <a:tblPr/>
              <a:tblGrid>
                <a:gridCol w="3107920"/>
              </a:tblGrid>
              <a:tr h="4115490">
                <a:tc>
                  <a:txBody>
                    <a:bodyPr anchor="t" rtlCol="false"/>
                    <a:lstStyle/>
                    <a:p>
                      <a:pPr algn="ctr">
                        <a:lnSpc>
                          <a:spcPts val="2940"/>
                        </a:lnSpc>
                        <a:defRPr/>
                      </a:pP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r>
            </a:tbl>
          </a:graphicData>
        </a:graphic>
      </p:graphicFrame>
      <p:sp>
        <p:nvSpPr>
          <p:cNvPr name="TextBox 14" id="14"/>
          <p:cNvSpPr txBox="true"/>
          <p:nvPr/>
        </p:nvSpPr>
        <p:spPr>
          <a:xfrm rot="0">
            <a:off x="12889566" y="3520095"/>
            <a:ext cx="3991472" cy="3180135"/>
          </a:xfrm>
          <a:prstGeom prst="rect">
            <a:avLst/>
          </a:prstGeom>
        </p:spPr>
        <p:txBody>
          <a:bodyPr anchor="t" rtlCol="false" tIns="0" lIns="0" bIns="0" rIns="0">
            <a:spAutoFit/>
          </a:bodyPr>
          <a:lstStyle/>
          <a:p>
            <a:pPr algn="ctr">
              <a:lnSpc>
                <a:spcPts val="3172"/>
              </a:lnSpc>
              <a:spcBef>
                <a:spcPct val="0"/>
              </a:spcBef>
            </a:pPr>
            <a:r>
              <a:rPr lang="en-US" b="true" sz="2266">
                <a:solidFill>
                  <a:srgbClr val="FBF9F1"/>
                </a:solidFill>
                <a:latin typeface="Poppins Bold"/>
                <a:ea typeface="Poppins Bold"/>
                <a:cs typeface="Poppins Bold"/>
                <a:sym typeface="Poppins Bold"/>
              </a:rPr>
              <a:t>The critical path includes Platform Design, System Development, Testing, and Regulatory Approvals. If any of these tasks are delayed, the overall project timeline will be delayed.</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472040" y="201984"/>
            <a:ext cx="9997114" cy="779145"/>
          </a:xfrm>
          <a:prstGeom prst="rect">
            <a:avLst/>
          </a:prstGeom>
        </p:spPr>
        <p:txBody>
          <a:bodyPr anchor="t" rtlCol="false" tIns="0" lIns="0" bIns="0" rIns="0">
            <a:spAutoFit/>
          </a:bodyPr>
          <a:lstStyle/>
          <a:p>
            <a:pPr algn="l">
              <a:lnSpc>
                <a:spcPts val="5610"/>
              </a:lnSpc>
            </a:pPr>
            <a:r>
              <a:rPr lang="en-US" sz="5100" b="true">
                <a:solidFill>
                  <a:srgbClr val="FBF9F1"/>
                </a:solidFill>
                <a:latin typeface="Poppins Bold"/>
                <a:ea typeface="Poppins Bold"/>
                <a:cs typeface="Poppins Bold"/>
                <a:sym typeface="Poppins Bold"/>
              </a:rPr>
              <a:t>GLOBAL ELEMENT</a:t>
            </a:r>
          </a:p>
        </p:txBody>
      </p:sp>
      <p:sp>
        <p:nvSpPr>
          <p:cNvPr name="TextBox 3" id="3"/>
          <p:cNvSpPr txBox="true"/>
          <p:nvPr/>
        </p:nvSpPr>
        <p:spPr>
          <a:xfrm rot="0">
            <a:off x="583203" y="1546258"/>
            <a:ext cx="16852402" cy="7274235"/>
          </a:xfrm>
          <a:prstGeom prst="rect">
            <a:avLst/>
          </a:prstGeom>
        </p:spPr>
        <p:txBody>
          <a:bodyPr anchor="t" rtlCol="false" tIns="0" lIns="0" bIns="0" rIns="0">
            <a:spAutoFit/>
          </a:bodyPr>
          <a:lstStyle/>
          <a:p>
            <a:pPr algn="ctr">
              <a:lnSpc>
                <a:spcPts val="3832"/>
              </a:lnSpc>
              <a:spcBef>
                <a:spcPct val="0"/>
              </a:spcBef>
            </a:pPr>
            <a:r>
              <a:rPr lang="en-US" b="true" sz="2737">
                <a:solidFill>
                  <a:srgbClr val="FBF9F1"/>
                </a:solidFill>
                <a:latin typeface="Lato Bold"/>
                <a:ea typeface="Lato Bold"/>
                <a:cs typeface="Lato Bold"/>
                <a:sym typeface="Lato Bold"/>
              </a:rPr>
              <a:t>1. International Time Zones:</a:t>
            </a:r>
          </a:p>
          <a:p>
            <a:pPr algn="ctr">
              <a:lnSpc>
                <a:spcPts val="3832"/>
              </a:lnSpc>
              <a:spcBef>
                <a:spcPct val="0"/>
              </a:spcBef>
            </a:pPr>
            <a:r>
              <a:rPr lang="en-US" sz="2737">
                <a:solidFill>
                  <a:srgbClr val="FBF9F1"/>
                </a:solidFill>
                <a:latin typeface="Lato"/>
                <a:ea typeface="Lato"/>
                <a:cs typeface="Lato"/>
                <a:sym typeface="Lato"/>
              </a:rPr>
              <a:t>Coordination with global teams across different time zones (e.g., USA, Europe, Asia) needs to be accounted for. This impacts both project development and international regulatory approvals.</a:t>
            </a:r>
          </a:p>
          <a:p>
            <a:pPr algn="ctr">
              <a:lnSpc>
                <a:spcPts val="3832"/>
              </a:lnSpc>
              <a:spcBef>
                <a:spcPct val="0"/>
              </a:spcBef>
            </a:pPr>
            <a:r>
              <a:rPr lang="en-US" sz="2737">
                <a:solidFill>
                  <a:srgbClr val="FBF9F1"/>
                </a:solidFill>
                <a:latin typeface="Lato"/>
                <a:ea typeface="Lato"/>
                <a:cs typeface="Lato"/>
                <a:sym typeface="Lato"/>
              </a:rPr>
              <a:t>Ensure task handovers are smooth and well-planned between different teams working in various time zones. </a:t>
            </a:r>
          </a:p>
          <a:p>
            <a:pPr algn="ctr">
              <a:lnSpc>
                <a:spcPts val="3832"/>
              </a:lnSpc>
              <a:spcBef>
                <a:spcPct val="0"/>
              </a:spcBef>
            </a:pPr>
          </a:p>
          <a:p>
            <a:pPr algn="ctr">
              <a:lnSpc>
                <a:spcPts val="3832"/>
              </a:lnSpc>
              <a:spcBef>
                <a:spcPct val="0"/>
              </a:spcBef>
            </a:pPr>
            <a:r>
              <a:rPr lang="en-US" b="true" sz="2737">
                <a:solidFill>
                  <a:srgbClr val="FBF9F1"/>
                </a:solidFill>
                <a:latin typeface="Lato Bold"/>
                <a:ea typeface="Lato Bold"/>
                <a:cs typeface="Lato Bold"/>
                <a:sym typeface="Lato Bold"/>
              </a:rPr>
              <a:t>2. Regulatory Approvals (Global)</a:t>
            </a:r>
          </a:p>
          <a:p>
            <a:pPr algn="ctr">
              <a:lnSpc>
                <a:spcPts val="3832"/>
              </a:lnSpc>
              <a:spcBef>
                <a:spcPct val="0"/>
              </a:spcBef>
            </a:pPr>
            <a:r>
              <a:rPr lang="en-US" b="true" sz="2737">
                <a:solidFill>
                  <a:srgbClr val="FBF9F1"/>
                </a:solidFill>
                <a:latin typeface="Lato Bold"/>
                <a:ea typeface="Lato Bold"/>
                <a:cs typeface="Lato Bold"/>
                <a:sym typeface="Lato Bold"/>
              </a:rPr>
              <a:t>Regional Differences</a:t>
            </a:r>
            <a:r>
              <a:rPr lang="en-US" sz="2737">
                <a:solidFill>
                  <a:srgbClr val="FBF9F1"/>
                </a:solidFill>
                <a:latin typeface="Lato"/>
                <a:ea typeface="Lato"/>
                <a:cs typeface="Lato"/>
                <a:sym typeface="Lato"/>
              </a:rPr>
              <a:t>: Different countries have distinct regulatory requirements (e.g., GDPR compliance in the EU). Delays in getting approvals from certain countries may push back the launch in those regions.</a:t>
            </a:r>
          </a:p>
          <a:p>
            <a:pPr algn="ctr">
              <a:lnSpc>
                <a:spcPts val="3832"/>
              </a:lnSpc>
              <a:spcBef>
                <a:spcPct val="0"/>
              </a:spcBef>
            </a:pPr>
            <a:r>
              <a:rPr lang="en-US" b="true" sz="2737">
                <a:solidFill>
                  <a:srgbClr val="FBF9F1"/>
                </a:solidFill>
                <a:latin typeface="Lato Bold"/>
                <a:ea typeface="Lato Bold"/>
                <a:cs typeface="Lato Bold"/>
                <a:sym typeface="Lato Bold"/>
              </a:rPr>
              <a:t>Buffer Time:</a:t>
            </a:r>
            <a:r>
              <a:rPr lang="en-US" sz="2737">
                <a:solidFill>
                  <a:srgbClr val="FBF9F1"/>
                </a:solidFill>
                <a:latin typeface="Lato"/>
                <a:ea typeface="Lato"/>
                <a:cs typeface="Lato"/>
                <a:sym typeface="Lato"/>
              </a:rPr>
              <a:t> Allocate extra time for communication with regulators in different countries, allowing for possible delays in responses and documentation requirements.</a:t>
            </a:r>
          </a:p>
          <a:p>
            <a:pPr algn="ctr">
              <a:lnSpc>
                <a:spcPts val="3832"/>
              </a:lnSpc>
              <a:spcBef>
                <a:spcPct val="0"/>
              </a:spcBef>
            </a:pPr>
          </a:p>
          <a:p>
            <a:pPr algn="ctr">
              <a:lnSpc>
                <a:spcPts val="3832"/>
              </a:lnSpc>
              <a:spcBef>
                <a:spcPct val="0"/>
              </a:spcBef>
            </a:pPr>
            <a:r>
              <a:rPr lang="en-US" b="true" sz="2737">
                <a:solidFill>
                  <a:srgbClr val="FBF9F1"/>
                </a:solidFill>
                <a:latin typeface="Lato Bold"/>
                <a:ea typeface="Lato Bold"/>
                <a:cs typeface="Lato Bold"/>
                <a:sym typeface="Lato Bold"/>
              </a:rPr>
              <a:t>3. Logistics and International Considerations</a:t>
            </a:r>
          </a:p>
          <a:p>
            <a:pPr algn="ctr">
              <a:lnSpc>
                <a:spcPts val="3832"/>
              </a:lnSpc>
              <a:spcBef>
                <a:spcPct val="0"/>
              </a:spcBef>
            </a:pPr>
            <a:r>
              <a:rPr lang="en-US" sz="2737">
                <a:solidFill>
                  <a:srgbClr val="FBF9F1"/>
                </a:solidFill>
                <a:latin typeface="Lato"/>
                <a:ea typeface="Lato"/>
                <a:cs typeface="Lato"/>
                <a:sym typeface="Lato"/>
              </a:rPr>
              <a:t>Depending on where the product is marketed, certain countries may have localization needs (e.g., language translations, local partnerships). Factoring in these global elements can impact timelines for marketing and deployment in specific regions.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4856881" y="-9525"/>
            <a:ext cx="9997114" cy="779145"/>
          </a:xfrm>
          <a:prstGeom prst="rect">
            <a:avLst/>
          </a:prstGeom>
        </p:spPr>
        <p:txBody>
          <a:bodyPr anchor="t" rtlCol="false" tIns="0" lIns="0" bIns="0" rIns="0">
            <a:spAutoFit/>
          </a:bodyPr>
          <a:lstStyle/>
          <a:p>
            <a:pPr algn="l">
              <a:lnSpc>
                <a:spcPts val="5610"/>
              </a:lnSpc>
            </a:pPr>
            <a:r>
              <a:rPr lang="en-US" sz="5100" b="true">
                <a:solidFill>
                  <a:srgbClr val="FBF9F1"/>
                </a:solidFill>
                <a:latin typeface="Poppins Bold"/>
                <a:ea typeface="Poppins Bold"/>
                <a:cs typeface="Poppins Bold"/>
                <a:sym typeface="Poppins Bold"/>
              </a:rPr>
              <a:t>BUDGET ESTIMATION</a:t>
            </a:r>
          </a:p>
        </p:txBody>
      </p:sp>
      <p:sp>
        <p:nvSpPr>
          <p:cNvPr name="TextBox 3" id="3"/>
          <p:cNvSpPr txBox="true"/>
          <p:nvPr/>
        </p:nvSpPr>
        <p:spPr>
          <a:xfrm rot="0">
            <a:off x="688645" y="1405950"/>
            <a:ext cx="16910710" cy="8546356"/>
          </a:xfrm>
          <a:prstGeom prst="rect">
            <a:avLst/>
          </a:prstGeom>
        </p:spPr>
        <p:txBody>
          <a:bodyPr anchor="t" rtlCol="false" tIns="0" lIns="0" bIns="0" rIns="0">
            <a:spAutoFit/>
          </a:bodyPr>
          <a:lstStyle/>
          <a:p>
            <a:pPr algn="l">
              <a:lnSpc>
                <a:spcPts val="4206"/>
              </a:lnSpc>
            </a:pPr>
            <a:r>
              <a:rPr lang="en-US" sz="3004" b="true">
                <a:solidFill>
                  <a:srgbClr val="FBF9F1"/>
                </a:solidFill>
                <a:latin typeface="Poppins Bold"/>
                <a:ea typeface="Poppins Bold"/>
                <a:cs typeface="Poppins Bold"/>
                <a:sym typeface="Poppins Bold"/>
              </a:rPr>
              <a:t>1.Development Costs:</a:t>
            </a:r>
          </a:p>
          <a:p>
            <a:pPr algn="l">
              <a:lnSpc>
                <a:spcPts val="3926"/>
              </a:lnSpc>
            </a:pPr>
            <a:r>
              <a:rPr lang="en-US" sz="2804" b="true">
                <a:solidFill>
                  <a:srgbClr val="FBF9F1"/>
                </a:solidFill>
                <a:latin typeface="Poppins Bold"/>
                <a:ea typeface="Poppins Bold"/>
                <a:cs typeface="Poppins Bold"/>
                <a:sym typeface="Poppins Bold"/>
              </a:rPr>
              <a:t>Web platform development: </a:t>
            </a:r>
            <a:r>
              <a:rPr lang="en-US" sz="2804">
                <a:solidFill>
                  <a:srgbClr val="FBF9F1"/>
                </a:solidFill>
                <a:latin typeface="Poppins"/>
                <a:ea typeface="Poppins"/>
                <a:cs typeface="Poppins"/>
                <a:sym typeface="Poppins"/>
              </a:rPr>
              <a:t>$500,000 (including UX/UI design, testing)</a:t>
            </a:r>
          </a:p>
          <a:p>
            <a:pPr algn="l">
              <a:lnSpc>
                <a:spcPts val="3926"/>
              </a:lnSpc>
            </a:pPr>
            <a:r>
              <a:rPr lang="en-US" sz="2804" b="true">
                <a:solidFill>
                  <a:srgbClr val="FBF9F1"/>
                </a:solidFill>
                <a:latin typeface="Poppins Bold"/>
                <a:ea typeface="Poppins Bold"/>
                <a:cs typeface="Poppins Bold"/>
                <a:sym typeface="Poppins Bold"/>
              </a:rPr>
              <a:t>Mobile app (if applicable): </a:t>
            </a:r>
            <a:r>
              <a:rPr lang="en-US" sz="2804">
                <a:solidFill>
                  <a:srgbClr val="FBF9F1"/>
                </a:solidFill>
                <a:latin typeface="Poppins"/>
                <a:ea typeface="Poppins"/>
                <a:cs typeface="Poppins"/>
                <a:sym typeface="Poppins"/>
              </a:rPr>
              <a:t>$400,000</a:t>
            </a:r>
          </a:p>
          <a:p>
            <a:pPr algn="l">
              <a:lnSpc>
                <a:spcPts val="3926"/>
              </a:lnSpc>
            </a:pPr>
            <a:r>
              <a:rPr lang="en-US" sz="2804" b="true">
                <a:solidFill>
                  <a:srgbClr val="FBF9F1"/>
                </a:solidFill>
                <a:latin typeface="Poppins Bold"/>
                <a:ea typeface="Poppins Bold"/>
                <a:cs typeface="Poppins Bold"/>
                <a:sym typeface="Poppins Bold"/>
              </a:rPr>
              <a:t>Technology stack (servers, cloud storage, etc.): </a:t>
            </a:r>
            <a:r>
              <a:rPr lang="en-US" sz="2804">
                <a:solidFill>
                  <a:srgbClr val="FBF9F1"/>
                </a:solidFill>
                <a:latin typeface="Poppins"/>
                <a:ea typeface="Poppins"/>
                <a:cs typeface="Poppins"/>
                <a:sym typeface="Poppins"/>
              </a:rPr>
              <a:t>$200,000/year</a:t>
            </a:r>
          </a:p>
          <a:p>
            <a:pPr algn="l">
              <a:lnSpc>
                <a:spcPts val="3926"/>
              </a:lnSpc>
            </a:pPr>
          </a:p>
          <a:p>
            <a:pPr algn="l">
              <a:lnSpc>
                <a:spcPts val="4206"/>
              </a:lnSpc>
            </a:pPr>
            <a:r>
              <a:rPr lang="en-US" sz="3004" b="true">
                <a:solidFill>
                  <a:srgbClr val="FBF9F1"/>
                </a:solidFill>
                <a:latin typeface="Poppins Bold"/>
                <a:ea typeface="Poppins Bold"/>
                <a:cs typeface="Poppins Bold"/>
                <a:sym typeface="Poppins Bold"/>
              </a:rPr>
              <a:t>2.</a:t>
            </a:r>
            <a:r>
              <a:rPr lang="en-US" sz="3004">
                <a:solidFill>
                  <a:srgbClr val="FBF9F1"/>
                </a:solidFill>
                <a:latin typeface="Poppins"/>
                <a:ea typeface="Poppins"/>
                <a:cs typeface="Poppins"/>
                <a:sym typeface="Poppins"/>
              </a:rPr>
              <a:t> </a:t>
            </a:r>
            <a:r>
              <a:rPr lang="en-US" sz="3004" b="true">
                <a:solidFill>
                  <a:srgbClr val="FBF9F1"/>
                </a:solidFill>
                <a:latin typeface="Poppins Bold"/>
                <a:ea typeface="Poppins Bold"/>
                <a:cs typeface="Poppins Bold"/>
                <a:sym typeface="Poppins Bold"/>
              </a:rPr>
              <a:t>Marketing Costs:</a:t>
            </a:r>
          </a:p>
          <a:p>
            <a:pPr algn="l">
              <a:lnSpc>
                <a:spcPts val="3926"/>
              </a:lnSpc>
            </a:pPr>
            <a:r>
              <a:rPr lang="en-US" sz="2804" b="true">
                <a:solidFill>
                  <a:srgbClr val="FBF9F1"/>
                </a:solidFill>
                <a:latin typeface="Poppins Bold"/>
                <a:ea typeface="Poppins Bold"/>
                <a:cs typeface="Poppins Bold"/>
                <a:sym typeface="Poppins Bold"/>
              </a:rPr>
              <a:t>Digital marketing (SEO, social media ads, PPC): </a:t>
            </a:r>
            <a:r>
              <a:rPr lang="en-US" sz="2804">
                <a:solidFill>
                  <a:srgbClr val="FBF9F1"/>
                </a:solidFill>
                <a:latin typeface="Poppins"/>
                <a:ea typeface="Poppins"/>
                <a:cs typeface="Poppins"/>
                <a:sym typeface="Poppins"/>
              </a:rPr>
              <a:t>$100,000/month</a:t>
            </a:r>
          </a:p>
          <a:p>
            <a:pPr algn="l">
              <a:lnSpc>
                <a:spcPts val="3926"/>
              </a:lnSpc>
            </a:pPr>
            <a:r>
              <a:rPr lang="en-US" sz="2804" b="true">
                <a:solidFill>
                  <a:srgbClr val="FBF9F1"/>
                </a:solidFill>
                <a:latin typeface="Poppins Bold"/>
                <a:ea typeface="Poppins Bold"/>
                <a:cs typeface="Poppins Bold"/>
                <a:sym typeface="Poppins Bold"/>
              </a:rPr>
              <a:t>Content creation (photography, videography, blogs): </a:t>
            </a:r>
            <a:r>
              <a:rPr lang="en-US" sz="2804">
                <a:solidFill>
                  <a:srgbClr val="FBF9F1"/>
                </a:solidFill>
                <a:latin typeface="Poppins"/>
                <a:ea typeface="Poppins"/>
                <a:cs typeface="Poppins"/>
                <a:sym typeface="Poppins"/>
              </a:rPr>
              <a:t>$50,000/month</a:t>
            </a:r>
          </a:p>
          <a:p>
            <a:pPr algn="l">
              <a:lnSpc>
                <a:spcPts val="3926"/>
              </a:lnSpc>
            </a:pPr>
          </a:p>
          <a:p>
            <a:pPr algn="l">
              <a:lnSpc>
                <a:spcPts val="4206"/>
              </a:lnSpc>
            </a:pPr>
            <a:r>
              <a:rPr lang="en-US" sz="3004" b="true">
                <a:solidFill>
                  <a:srgbClr val="FBF9F1"/>
                </a:solidFill>
                <a:latin typeface="Poppins Bold"/>
                <a:ea typeface="Poppins Bold"/>
                <a:cs typeface="Poppins Bold"/>
                <a:sym typeface="Poppins Bold"/>
              </a:rPr>
              <a:t>3.</a:t>
            </a:r>
            <a:r>
              <a:rPr lang="en-US" sz="3004" b="true">
                <a:solidFill>
                  <a:srgbClr val="FBF9F1"/>
                </a:solidFill>
                <a:latin typeface="Poppins Bold"/>
                <a:ea typeface="Poppins Bold"/>
                <a:cs typeface="Poppins Bold"/>
                <a:sym typeface="Poppins Bold"/>
              </a:rPr>
              <a:t>International Considerations:</a:t>
            </a:r>
          </a:p>
          <a:p>
            <a:pPr algn="l">
              <a:lnSpc>
                <a:spcPts val="3926"/>
              </a:lnSpc>
            </a:pPr>
            <a:r>
              <a:rPr lang="en-US" sz="2804">
                <a:solidFill>
                  <a:srgbClr val="FBF9F1"/>
                </a:solidFill>
                <a:latin typeface="Poppins"/>
                <a:ea typeface="Poppins"/>
                <a:cs typeface="Poppins"/>
                <a:sym typeface="Poppins"/>
              </a:rPr>
              <a:t>Tariffs, shipping costs for any physical products: Estimated at 5-10% of sales.</a:t>
            </a:r>
          </a:p>
          <a:p>
            <a:pPr algn="l">
              <a:lnSpc>
                <a:spcPts val="3926"/>
              </a:lnSpc>
            </a:pPr>
            <a:r>
              <a:rPr lang="en-US" sz="2804">
                <a:solidFill>
                  <a:srgbClr val="FBF9F1"/>
                </a:solidFill>
                <a:latin typeface="Poppins"/>
                <a:ea typeface="Poppins"/>
                <a:cs typeface="Poppins"/>
                <a:sym typeface="Poppins"/>
              </a:rPr>
              <a:t>Currency exchange fluctuations: Build in a 3-5% buffer for exchange rate variations.</a:t>
            </a:r>
          </a:p>
          <a:p>
            <a:pPr algn="l">
              <a:lnSpc>
                <a:spcPts val="3926"/>
              </a:lnSpc>
            </a:pPr>
            <a:r>
              <a:rPr lang="en-US" sz="2804">
                <a:solidFill>
                  <a:srgbClr val="FBF9F1"/>
                </a:solidFill>
                <a:latin typeface="Poppins"/>
                <a:ea typeface="Poppins"/>
                <a:cs typeface="Poppins"/>
                <a:sym typeface="Poppins"/>
              </a:rPr>
              <a:t>Total Estimated Budget: $10 million</a:t>
            </a:r>
          </a:p>
          <a:p>
            <a:pPr algn="l">
              <a:lnSpc>
                <a:spcPts val="3926"/>
              </a:lnSpc>
            </a:pPr>
          </a:p>
          <a:p>
            <a:pPr algn="l">
              <a:lnSpc>
                <a:spcPts val="3926"/>
              </a:lnSpc>
            </a:pPr>
            <a:r>
              <a:rPr lang="en-US" sz="2804" b="true">
                <a:solidFill>
                  <a:srgbClr val="FBF9F1"/>
                </a:solidFill>
                <a:latin typeface="Poppins Bold"/>
                <a:ea typeface="Poppins Bold"/>
                <a:cs typeface="Poppins Bold"/>
                <a:sym typeface="Poppins Bold"/>
              </a:rPr>
              <a:t>(Development: $900,000, Marketing for first year: $1.8 million, Miscellaneous/Buffer: $100,000)</a:t>
            </a:r>
          </a:p>
          <a:p>
            <a:pPr algn="l">
              <a:lnSpc>
                <a:spcPts val="3926"/>
              </a:lnSpc>
            </a:p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318215" y="249555"/>
            <a:ext cx="9997114" cy="779145"/>
          </a:xfrm>
          <a:prstGeom prst="rect">
            <a:avLst/>
          </a:prstGeom>
        </p:spPr>
        <p:txBody>
          <a:bodyPr anchor="t" rtlCol="false" tIns="0" lIns="0" bIns="0" rIns="0">
            <a:spAutoFit/>
          </a:bodyPr>
          <a:lstStyle/>
          <a:p>
            <a:pPr algn="l">
              <a:lnSpc>
                <a:spcPts val="5610"/>
              </a:lnSpc>
            </a:pPr>
            <a:r>
              <a:rPr lang="en-US" sz="5100" b="true">
                <a:solidFill>
                  <a:srgbClr val="FBF9F1"/>
                </a:solidFill>
                <a:latin typeface="Poppins Bold"/>
                <a:ea typeface="Poppins Bold"/>
                <a:cs typeface="Poppins Bold"/>
                <a:sym typeface="Poppins Bold"/>
              </a:rPr>
              <a:t>COST BASELINE</a:t>
            </a:r>
          </a:p>
        </p:txBody>
      </p:sp>
      <p:sp>
        <p:nvSpPr>
          <p:cNvPr name="TextBox 3" id="3"/>
          <p:cNvSpPr txBox="true"/>
          <p:nvPr/>
        </p:nvSpPr>
        <p:spPr>
          <a:xfrm rot="0">
            <a:off x="734774" y="1959896"/>
            <a:ext cx="16818452" cy="7529141"/>
          </a:xfrm>
          <a:prstGeom prst="rect">
            <a:avLst/>
          </a:prstGeom>
        </p:spPr>
        <p:txBody>
          <a:bodyPr anchor="t" rtlCol="false" tIns="0" lIns="0" bIns="0" rIns="0">
            <a:spAutoFit/>
          </a:bodyPr>
          <a:lstStyle/>
          <a:p>
            <a:pPr algn="l">
              <a:lnSpc>
                <a:spcPts val="5007"/>
              </a:lnSpc>
            </a:pPr>
            <a:r>
              <a:rPr lang="en-US" sz="3577" b="true">
                <a:solidFill>
                  <a:srgbClr val="FBF9F1"/>
                </a:solidFill>
                <a:latin typeface="Lato Bold"/>
                <a:ea typeface="Lato Bold"/>
                <a:cs typeface="Lato Bold"/>
                <a:sym typeface="Lato Bold"/>
              </a:rPr>
              <a:t>The cost baseline is the approved version of the project budget, including all costs for each stage of the Digital Arena development, which can be monitored and controlled.</a:t>
            </a:r>
          </a:p>
          <a:p>
            <a:pPr algn="l">
              <a:lnSpc>
                <a:spcPts val="5007"/>
              </a:lnSpc>
            </a:pPr>
          </a:p>
          <a:p>
            <a:pPr algn="l">
              <a:lnSpc>
                <a:spcPts val="5007"/>
              </a:lnSpc>
            </a:pPr>
            <a:r>
              <a:rPr lang="en-US" sz="3577" b="true">
                <a:solidFill>
                  <a:srgbClr val="FBF9F1"/>
                </a:solidFill>
                <a:latin typeface="Poppins Bold"/>
                <a:ea typeface="Poppins Bold"/>
                <a:cs typeface="Poppins Bold"/>
                <a:sym typeface="Poppins Bold"/>
              </a:rPr>
              <a:t>Initial Costs (Development): </a:t>
            </a:r>
            <a:r>
              <a:rPr lang="en-US" sz="3577">
                <a:solidFill>
                  <a:srgbClr val="FBF9F1"/>
                </a:solidFill>
                <a:latin typeface="Poppins"/>
                <a:ea typeface="Poppins"/>
                <a:cs typeface="Poppins"/>
                <a:sym typeface="Poppins"/>
              </a:rPr>
              <a:t>$900,000</a:t>
            </a:r>
          </a:p>
          <a:p>
            <a:pPr algn="l">
              <a:lnSpc>
                <a:spcPts val="5007"/>
              </a:lnSpc>
            </a:pPr>
            <a:r>
              <a:rPr lang="en-US" sz="3577" b="true">
                <a:solidFill>
                  <a:srgbClr val="FBF9F1"/>
                </a:solidFill>
                <a:latin typeface="Poppins Bold"/>
                <a:ea typeface="Poppins Bold"/>
                <a:cs typeface="Poppins Bold"/>
                <a:sym typeface="Poppins Bold"/>
              </a:rPr>
              <a:t>Operational Costs (Marketing, Tech Maintenance): </a:t>
            </a:r>
            <a:r>
              <a:rPr lang="en-US" sz="3577">
                <a:solidFill>
                  <a:srgbClr val="FBF9F1"/>
                </a:solidFill>
                <a:latin typeface="Poppins"/>
                <a:ea typeface="Poppins"/>
                <a:cs typeface="Poppins"/>
                <a:sym typeface="Poppins"/>
              </a:rPr>
              <a:t>$2 million/year</a:t>
            </a:r>
          </a:p>
          <a:p>
            <a:pPr algn="l">
              <a:lnSpc>
                <a:spcPts val="5007"/>
              </a:lnSpc>
            </a:pPr>
            <a:r>
              <a:rPr lang="en-US" sz="3577" b="true">
                <a:solidFill>
                  <a:srgbClr val="FBF9F1"/>
                </a:solidFill>
                <a:latin typeface="Poppins Bold"/>
                <a:ea typeface="Poppins Bold"/>
                <a:cs typeface="Poppins Bold"/>
                <a:sym typeface="Poppins Bold"/>
              </a:rPr>
              <a:t>Tracking: </a:t>
            </a:r>
            <a:r>
              <a:rPr lang="en-US" sz="3577">
                <a:solidFill>
                  <a:srgbClr val="FBF9F1"/>
                </a:solidFill>
                <a:latin typeface="Poppins"/>
                <a:ea typeface="Poppins"/>
                <a:cs typeface="Poppins"/>
                <a:sym typeface="Poppins"/>
              </a:rPr>
              <a:t>Use project management software like Asana/Trello with budget tracking tools.</a:t>
            </a:r>
          </a:p>
          <a:p>
            <a:pPr algn="l">
              <a:lnSpc>
                <a:spcPts val="5007"/>
              </a:lnSpc>
            </a:pPr>
            <a:r>
              <a:rPr lang="en-US" sz="3577" b="true">
                <a:solidFill>
                  <a:srgbClr val="FBF9F1"/>
                </a:solidFill>
                <a:latin typeface="Poppins Bold"/>
                <a:ea typeface="Poppins Bold"/>
                <a:cs typeface="Poppins Bold"/>
                <a:sym typeface="Poppins Bold"/>
              </a:rPr>
              <a:t>Change Control: </a:t>
            </a:r>
            <a:r>
              <a:rPr lang="en-US" sz="3577">
                <a:solidFill>
                  <a:srgbClr val="FBF9F1"/>
                </a:solidFill>
                <a:latin typeface="Poppins"/>
                <a:ea typeface="Poppins"/>
                <a:cs typeface="Poppins"/>
                <a:sym typeface="Poppins"/>
              </a:rPr>
              <a:t>Any changes to the cost baseline must go through a formal approval process, ensuring they are justified and within the project scope.</a:t>
            </a:r>
          </a:p>
          <a:p>
            <a:pPr algn="l">
              <a:lnSpc>
                <a:spcPts val="5007"/>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4741513" y="249555"/>
            <a:ext cx="9997114" cy="779145"/>
          </a:xfrm>
          <a:prstGeom prst="rect">
            <a:avLst/>
          </a:prstGeom>
        </p:spPr>
        <p:txBody>
          <a:bodyPr anchor="t" rtlCol="false" tIns="0" lIns="0" bIns="0" rIns="0">
            <a:spAutoFit/>
          </a:bodyPr>
          <a:lstStyle/>
          <a:p>
            <a:pPr algn="l">
              <a:lnSpc>
                <a:spcPts val="5610"/>
              </a:lnSpc>
            </a:pPr>
            <a:r>
              <a:rPr lang="en-US" sz="5100" b="true">
                <a:solidFill>
                  <a:srgbClr val="FBF9F1"/>
                </a:solidFill>
                <a:latin typeface="Poppins Bold"/>
                <a:ea typeface="Poppins Bold"/>
                <a:cs typeface="Poppins Bold"/>
                <a:sym typeface="Poppins Bold"/>
              </a:rPr>
              <a:t>FUNDING REQUIREMENT</a:t>
            </a:r>
          </a:p>
        </p:txBody>
      </p:sp>
      <p:sp>
        <p:nvSpPr>
          <p:cNvPr name="TextBox 3" id="3"/>
          <p:cNvSpPr txBox="true"/>
          <p:nvPr/>
        </p:nvSpPr>
        <p:spPr>
          <a:xfrm rot="0">
            <a:off x="1244318" y="2273193"/>
            <a:ext cx="16014982" cy="6356981"/>
          </a:xfrm>
          <a:prstGeom prst="rect">
            <a:avLst/>
          </a:prstGeom>
        </p:spPr>
        <p:txBody>
          <a:bodyPr anchor="t" rtlCol="false" tIns="0" lIns="0" bIns="0" rIns="0">
            <a:spAutoFit/>
          </a:bodyPr>
          <a:lstStyle/>
          <a:p>
            <a:pPr algn="l">
              <a:lnSpc>
                <a:spcPts val="5565"/>
              </a:lnSpc>
            </a:pPr>
            <a:r>
              <a:rPr lang="en-US" sz="3975" b="true">
                <a:solidFill>
                  <a:srgbClr val="FBF9F1"/>
                </a:solidFill>
                <a:latin typeface="Poppins Bold"/>
                <a:ea typeface="Poppins Bold"/>
                <a:cs typeface="Poppins Bold"/>
                <a:sym typeface="Poppins Bold"/>
              </a:rPr>
              <a:t>Initial Investment:  </a:t>
            </a:r>
            <a:r>
              <a:rPr lang="en-US" sz="3975">
                <a:solidFill>
                  <a:srgbClr val="FBF9F1"/>
                </a:solidFill>
                <a:latin typeface="Poppins"/>
                <a:ea typeface="Poppins"/>
                <a:cs typeface="Poppins"/>
                <a:sym typeface="Poppins"/>
              </a:rPr>
              <a:t>$900,000 for web/app development.</a:t>
            </a:r>
          </a:p>
          <a:p>
            <a:pPr algn="l">
              <a:lnSpc>
                <a:spcPts val="5565"/>
              </a:lnSpc>
            </a:pPr>
            <a:r>
              <a:rPr lang="en-US" sz="3975" b="true">
                <a:solidFill>
                  <a:srgbClr val="FBF9F1"/>
                </a:solidFill>
                <a:latin typeface="Poppins Bold"/>
                <a:ea typeface="Poppins Bold"/>
                <a:cs typeface="Poppins Bold"/>
                <a:sym typeface="Poppins Bold"/>
              </a:rPr>
              <a:t>Ongoing Costs</a:t>
            </a:r>
            <a:r>
              <a:rPr lang="en-US" sz="3975">
                <a:solidFill>
                  <a:srgbClr val="FBF9F1"/>
                </a:solidFill>
                <a:latin typeface="Poppins"/>
                <a:ea typeface="Poppins"/>
                <a:cs typeface="Poppins"/>
                <a:sym typeface="Poppins"/>
              </a:rPr>
              <a:t>: $2 million/year for digital marketing, maintenance, and international fees.</a:t>
            </a:r>
          </a:p>
          <a:p>
            <a:pPr algn="l">
              <a:lnSpc>
                <a:spcPts val="5565"/>
              </a:lnSpc>
            </a:pPr>
          </a:p>
          <a:p>
            <a:pPr algn="l">
              <a:lnSpc>
                <a:spcPts val="5565"/>
              </a:lnSpc>
            </a:pPr>
            <a:r>
              <a:rPr lang="en-US" sz="3975" b="true">
                <a:solidFill>
                  <a:srgbClr val="FBF9F1"/>
                </a:solidFill>
                <a:latin typeface="Poppins Bold"/>
                <a:ea typeface="Poppins Bold"/>
                <a:cs typeface="Poppins Bold"/>
                <a:sym typeface="Poppins Bold"/>
              </a:rPr>
              <a:t>Potential Funding Sources: </a:t>
            </a:r>
            <a:r>
              <a:rPr lang="en-US" sz="3975">
                <a:solidFill>
                  <a:srgbClr val="FBF9F1"/>
                </a:solidFill>
                <a:latin typeface="Poppins"/>
                <a:ea typeface="Poppins"/>
                <a:cs typeface="Poppins"/>
                <a:sym typeface="Poppins"/>
              </a:rPr>
              <a:t>Internal funding</a:t>
            </a:r>
          </a:p>
          <a:p>
            <a:pPr algn="l">
              <a:lnSpc>
                <a:spcPts val="5565"/>
              </a:lnSpc>
            </a:pPr>
            <a:r>
              <a:rPr lang="en-US" sz="3975">
                <a:solidFill>
                  <a:srgbClr val="FBF9F1"/>
                </a:solidFill>
                <a:latin typeface="Poppins"/>
                <a:ea typeface="Poppins"/>
                <a:cs typeface="Poppins"/>
                <a:sym typeface="Poppins"/>
              </a:rPr>
              <a:t>Angel investors or venture capital</a:t>
            </a:r>
          </a:p>
          <a:p>
            <a:pPr algn="l">
              <a:lnSpc>
                <a:spcPts val="5565"/>
              </a:lnSpc>
            </a:pPr>
            <a:r>
              <a:rPr lang="en-US" sz="3975">
                <a:solidFill>
                  <a:srgbClr val="FBF9F1"/>
                </a:solidFill>
                <a:latin typeface="Poppins"/>
                <a:ea typeface="Poppins"/>
                <a:cs typeface="Poppins"/>
                <a:sym typeface="Poppins"/>
              </a:rPr>
              <a:t>Bank loans or business grants (especially for startups with an international presence)</a:t>
            </a:r>
          </a:p>
          <a:p>
            <a:pPr algn="l">
              <a:lnSpc>
                <a:spcPts val="5565"/>
              </a:lnSpc>
            </a:pP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474234" y="176530"/>
            <a:ext cx="14477255" cy="852170"/>
          </a:xfrm>
          <a:prstGeom prst="rect">
            <a:avLst/>
          </a:prstGeom>
        </p:spPr>
        <p:txBody>
          <a:bodyPr anchor="t" rtlCol="false" tIns="0" lIns="0" bIns="0" rIns="0">
            <a:spAutoFit/>
          </a:bodyPr>
          <a:lstStyle/>
          <a:p>
            <a:pPr algn="l">
              <a:lnSpc>
                <a:spcPts val="6160"/>
              </a:lnSpc>
            </a:pPr>
            <a:r>
              <a:rPr lang="en-US" sz="5600" b="true">
                <a:solidFill>
                  <a:srgbClr val="FBF9F1"/>
                </a:solidFill>
                <a:latin typeface="Poppins Bold"/>
                <a:ea typeface="Poppins Bold"/>
                <a:cs typeface="Poppins Bold"/>
                <a:sym typeface="Poppins Bold"/>
              </a:rPr>
              <a:t>GLOBAL ELEMENT</a:t>
            </a:r>
          </a:p>
        </p:txBody>
      </p:sp>
      <p:sp>
        <p:nvSpPr>
          <p:cNvPr name="TextBox 3" id="3"/>
          <p:cNvSpPr txBox="true"/>
          <p:nvPr/>
        </p:nvSpPr>
        <p:spPr>
          <a:xfrm rot="0">
            <a:off x="1244318" y="2183830"/>
            <a:ext cx="16014982" cy="8471531"/>
          </a:xfrm>
          <a:prstGeom prst="rect">
            <a:avLst/>
          </a:prstGeom>
        </p:spPr>
        <p:txBody>
          <a:bodyPr anchor="t" rtlCol="false" tIns="0" lIns="0" bIns="0" rIns="0">
            <a:spAutoFit/>
          </a:bodyPr>
          <a:lstStyle/>
          <a:p>
            <a:pPr algn="l">
              <a:lnSpc>
                <a:spcPts val="5565"/>
              </a:lnSpc>
            </a:pPr>
            <a:r>
              <a:rPr lang="en-US" sz="3975" b="true">
                <a:solidFill>
                  <a:srgbClr val="FBF9F1"/>
                </a:solidFill>
                <a:latin typeface="Poppins Bold"/>
                <a:ea typeface="Poppins Bold"/>
                <a:cs typeface="Poppins Bold"/>
                <a:sym typeface="Poppins Bold"/>
              </a:rPr>
              <a:t>Tariffs and Shipping: </a:t>
            </a:r>
            <a:r>
              <a:rPr lang="en-US" sz="3975">
                <a:solidFill>
                  <a:srgbClr val="FBF9F1"/>
                </a:solidFill>
                <a:latin typeface="Poppins"/>
                <a:ea typeface="Poppins"/>
                <a:cs typeface="Poppins"/>
                <a:sym typeface="Poppins"/>
              </a:rPr>
              <a:t>If shipping physical goods (like sports gear), tariffs could range from 5-10%, depending on the countries involved.</a:t>
            </a:r>
          </a:p>
          <a:p>
            <a:pPr algn="l">
              <a:lnSpc>
                <a:spcPts val="5565"/>
              </a:lnSpc>
            </a:pPr>
          </a:p>
          <a:p>
            <a:pPr algn="l">
              <a:lnSpc>
                <a:spcPts val="5565"/>
              </a:lnSpc>
            </a:pPr>
            <a:r>
              <a:rPr lang="en-US" sz="3975" b="true">
                <a:solidFill>
                  <a:srgbClr val="FBF9F1"/>
                </a:solidFill>
                <a:latin typeface="Poppins Bold"/>
                <a:ea typeface="Poppins Bold"/>
                <a:cs typeface="Poppins Bold"/>
                <a:sym typeface="Poppins Bold"/>
              </a:rPr>
              <a:t>Currency Exchange: </a:t>
            </a:r>
            <a:r>
              <a:rPr lang="en-US" sz="3975">
                <a:solidFill>
                  <a:srgbClr val="FBF9F1"/>
                </a:solidFill>
                <a:latin typeface="Poppins"/>
                <a:ea typeface="Poppins"/>
                <a:cs typeface="Poppins"/>
                <a:sym typeface="Poppins"/>
              </a:rPr>
              <a:t>Build a 3-5% buffer into international sales to account for fluctuations in currency exchange rates.</a:t>
            </a:r>
          </a:p>
          <a:p>
            <a:pPr algn="l">
              <a:lnSpc>
                <a:spcPts val="5565"/>
              </a:lnSpc>
            </a:pPr>
          </a:p>
          <a:p>
            <a:pPr algn="l">
              <a:lnSpc>
                <a:spcPts val="5565"/>
              </a:lnSpc>
            </a:pPr>
            <a:r>
              <a:rPr lang="en-US" sz="3975" b="true">
                <a:solidFill>
                  <a:srgbClr val="FBF9F1"/>
                </a:solidFill>
                <a:latin typeface="Poppins Bold"/>
                <a:ea typeface="Poppins Bold"/>
                <a:cs typeface="Poppins Bold"/>
                <a:sym typeface="Poppins Bold"/>
              </a:rPr>
              <a:t>Logistics Costs:</a:t>
            </a:r>
            <a:r>
              <a:rPr lang="en-US" sz="3975">
                <a:solidFill>
                  <a:srgbClr val="FBF9F1"/>
                </a:solidFill>
                <a:latin typeface="Poppins"/>
                <a:ea typeface="Poppins"/>
                <a:cs typeface="Poppins"/>
                <a:sym typeface="Poppins"/>
              </a:rPr>
              <a:t> Include estimates for international shipping costs, likely to vary between $10-30 per unit depending on regions.</a:t>
            </a:r>
          </a:p>
          <a:p>
            <a:pPr algn="l">
              <a:lnSpc>
                <a:spcPts val="5565"/>
              </a:lnSpc>
            </a:pPr>
          </a:p>
          <a:p>
            <a:pPr algn="l">
              <a:lnSpc>
                <a:spcPts val="5565"/>
              </a:lnSpc>
            </a:pP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3213920" y="176530"/>
            <a:ext cx="14477255" cy="852170"/>
          </a:xfrm>
          <a:prstGeom prst="rect">
            <a:avLst/>
          </a:prstGeom>
        </p:spPr>
        <p:txBody>
          <a:bodyPr anchor="t" rtlCol="false" tIns="0" lIns="0" bIns="0" rIns="0">
            <a:spAutoFit/>
          </a:bodyPr>
          <a:lstStyle/>
          <a:p>
            <a:pPr algn="l">
              <a:lnSpc>
                <a:spcPts val="6160"/>
              </a:lnSpc>
            </a:pPr>
            <a:r>
              <a:rPr lang="en-US" sz="5600" b="true">
                <a:solidFill>
                  <a:srgbClr val="FBF9F1"/>
                </a:solidFill>
                <a:latin typeface="Poppins Bold"/>
                <a:ea typeface="Poppins Bold"/>
                <a:cs typeface="Poppins Bold"/>
                <a:sym typeface="Poppins Bold"/>
              </a:rPr>
              <a:t>RESOURCE MANAGEMENT PLAN</a:t>
            </a:r>
          </a:p>
        </p:txBody>
      </p:sp>
      <p:sp>
        <p:nvSpPr>
          <p:cNvPr name="TextBox 3" id="3"/>
          <p:cNvSpPr txBox="true"/>
          <p:nvPr/>
        </p:nvSpPr>
        <p:spPr>
          <a:xfrm rot="0">
            <a:off x="506472" y="1343346"/>
            <a:ext cx="17275055" cy="9248468"/>
          </a:xfrm>
          <a:prstGeom prst="rect">
            <a:avLst/>
          </a:prstGeom>
        </p:spPr>
        <p:txBody>
          <a:bodyPr anchor="t" rtlCol="false" tIns="0" lIns="0" bIns="0" rIns="0">
            <a:spAutoFit/>
          </a:bodyPr>
          <a:lstStyle/>
          <a:p>
            <a:pPr algn="l">
              <a:lnSpc>
                <a:spcPts val="4846"/>
              </a:lnSpc>
            </a:pPr>
            <a:r>
              <a:rPr lang="en-US" sz="3462">
                <a:solidFill>
                  <a:srgbClr val="FBF9F1"/>
                </a:solidFill>
                <a:latin typeface="Poppins"/>
                <a:ea typeface="Poppins"/>
                <a:cs typeface="Poppins"/>
                <a:sym typeface="Poppins"/>
              </a:rPr>
              <a:t>Human Resources Allocation:</a:t>
            </a:r>
          </a:p>
          <a:p>
            <a:pPr algn="l" marL="747467" indent="-373733" lvl="1">
              <a:lnSpc>
                <a:spcPts val="4846"/>
              </a:lnSpc>
              <a:buFont typeface="Arial"/>
              <a:buChar char="•"/>
            </a:pPr>
            <a:r>
              <a:rPr lang="en-US" sz="3462">
                <a:solidFill>
                  <a:srgbClr val="FBF9F1"/>
                </a:solidFill>
                <a:latin typeface="Poppins"/>
                <a:ea typeface="Poppins"/>
                <a:cs typeface="Poppins"/>
                <a:sym typeface="Poppins"/>
              </a:rPr>
              <a:t>Project Manager: Full-time throughout the project to oversee tasks.</a:t>
            </a:r>
          </a:p>
          <a:p>
            <a:pPr algn="l" marL="747467" indent="-373733" lvl="1">
              <a:lnSpc>
                <a:spcPts val="4846"/>
              </a:lnSpc>
              <a:buFont typeface="Arial"/>
              <a:buChar char="•"/>
            </a:pPr>
            <a:r>
              <a:rPr lang="en-US" sz="3462">
                <a:solidFill>
                  <a:srgbClr val="FBF9F1"/>
                </a:solidFill>
                <a:latin typeface="Poppins"/>
                <a:ea typeface="Poppins"/>
                <a:cs typeface="Poppins"/>
                <a:sym typeface="Poppins"/>
              </a:rPr>
              <a:t>Development Team: Cloud streaming developers, app developers, and integration team work full-time during the development phases.</a:t>
            </a:r>
          </a:p>
          <a:p>
            <a:pPr algn="l" marL="747467" indent="-373733" lvl="1">
              <a:lnSpc>
                <a:spcPts val="4846"/>
              </a:lnSpc>
              <a:buFont typeface="Arial"/>
              <a:buChar char="•"/>
            </a:pPr>
            <a:r>
              <a:rPr lang="en-US" sz="3462">
                <a:solidFill>
                  <a:srgbClr val="FBF9F1"/>
                </a:solidFill>
                <a:latin typeface="Poppins"/>
                <a:ea typeface="Poppins"/>
                <a:cs typeface="Poppins"/>
                <a:sym typeface="Poppins"/>
              </a:rPr>
              <a:t>Quality Assurance Team: Part-time for platform and app testing.</a:t>
            </a:r>
          </a:p>
          <a:p>
            <a:pPr algn="l" marL="747467" indent="-373733" lvl="1">
              <a:lnSpc>
                <a:spcPts val="4846"/>
              </a:lnSpc>
              <a:buFont typeface="Arial"/>
              <a:buChar char="•"/>
            </a:pPr>
            <a:r>
              <a:rPr lang="en-US" sz="3462">
                <a:solidFill>
                  <a:srgbClr val="FBF9F1"/>
                </a:solidFill>
                <a:latin typeface="Poppins"/>
                <a:ea typeface="Poppins"/>
                <a:cs typeface="Poppins"/>
                <a:sym typeface="Poppins"/>
              </a:rPr>
              <a:t>Marketing Team: Work full-time only after development. Primarily for pre-launch and campaign management.</a:t>
            </a:r>
          </a:p>
          <a:p>
            <a:pPr algn="l" marL="747467" indent="-373733" lvl="1">
              <a:lnSpc>
                <a:spcPts val="4846"/>
              </a:lnSpc>
              <a:buFont typeface="Arial"/>
              <a:buChar char="•"/>
            </a:pPr>
            <a:r>
              <a:rPr lang="en-US" sz="3462">
                <a:solidFill>
                  <a:srgbClr val="FBF9F1"/>
                </a:solidFill>
                <a:latin typeface="Poppins"/>
                <a:ea typeface="Poppins"/>
                <a:cs typeface="Poppins"/>
                <a:sym typeface="Poppins"/>
              </a:rPr>
              <a:t>Regulatory Consultant: Part-time for international compliance.</a:t>
            </a:r>
          </a:p>
          <a:p>
            <a:pPr algn="l">
              <a:lnSpc>
                <a:spcPts val="4846"/>
              </a:lnSpc>
            </a:pPr>
          </a:p>
          <a:p>
            <a:pPr algn="l">
              <a:lnSpc>
                <a:spcPts val="4846"/>
              </a:lnSpc>
            </a:pPr>
            <a:r>
              <a:rPr lang="en-US" sz="3462">
                <a:solidFill>
                  <a:srgbClr val="FBF9F1"/>
                </a:solidFill>
                <a:latin typeface="Poppins"/>
                <a:ea typeface="Poppins"/>
                <a:cs typeface="Poppins"/>
                <a:sym typeface="Poppins"/>
              </a:rPr>
              <a:t>Material Resources Allocation:</a:t>
            </a:r>
          </a:p>
          <a:p>
            <a:pPr algn="l" marL="747467" indent="-373733" lvl="1">
              <a:lnSpc>
                <a:spcPts val="4846"/>
              </a:lnSpc>
              <a:buFont typeface="Arial"/>
              <a:buChar char="•"/>
            </a:pPr>
            <a:r>
              <a:rPr lang="en-US" sz="3462">
                <a:solidFill>
                  <a:srgbClr val="FBF9F1"/>
                </a:solidFill>
                <a:latin typeface="Poppins"/>
                <a:ea typeface="Poppins"/>
                <a:cs typeface="Poppins"/>
                <a:sym typeface="Poppins"/>
              </a:rPr>
              <a:t>Development Tools: Cloud Infrastrucutre, mobile SDKs, third-party APIs.</a:t>
            </a:r>
          </a:p>
          <a:p>
            <a:pPr algn="l" marL="747467" indent="-373733" lvl="1">
              <a:lnSpc>
                <a:spcPts val="4846"/>
              </a:lnSpc>
              <a:buFont typeface="Arial"/>
              <a:buChar char="•"/>
            </a:pPr>
            <a:r>
              <a:rPr lang="en-US" sz="3462">
                <a:solidFill>
                  <a:srgbClr val="FBF9F1"/>
                </a:solidFill>
                <a:latin typeface="Poppins"/>
                <a:ea typeface="Poppins"/>
                <a:cs typeface="Poppins"/>
                <a:sym typeface="Poppins"/>
              </a:rPr>
              <a:t>Testing Environment: Servers for platform and app testing.</a:t>
            </a:r>
          </a:p>
          <a:p>
            <a:pPr algn="l" marL="747467" indent="-373733" lvl="1">
              <a:lnSpc>
                <a:spcPts val="4846"/>
              </a:lnSpc>
              <a:buFont typeface="Arial"/>
              <a:buChar char="•"/>
            </a:pPr>
            <a:r>
              <a:rPr lang="en-US" sz="3462">
                <a:solidFill>
                  <a:srgbClr val="FBF9F1"/>
                </a:solidFill>
                <a:latin typeface="Poppins"/>
                <a:ea typeface="Poppins"/>
                <a:cs typeface="Poppins"/>
                <a:sym typeface="Poppins"/>
              </a:rPr>
              <a:t>Marketing Tools: Content management platforms, ad platforms for pre-launch campaigns.</a:t>
            </a:r>
          </a:p>
          <a:p>
            <a:pPr algn="l">
              <a:lnSpc>
                <a:spcPts val="5686"/>
              </a:lnSpc>
            </a:pP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474234" y="176530"/>
            <a:ext cx="14477255" cy="852170"/>
          </a:xfrm>
          <a:prstGeom prst="rect">
            <a:avLst/>
          </a:prstGeom>
        </p:spPr>
        <p:txBody>
          <a:bodyPr anchor="t" rtlCol="false" tIns="0" lIns="0" bIns="0" rIns="0">
            <a:spAutoFit/>
          </a:bodyPr>
          <a:lstStyle/>
          <a:p>
            <a:pPr algn="l">
              <a:lnSpc>
                <a:spcPts val="6160"/>
              </a:lnSpc>
            </a:pPr>
            <a:r>
              <a:rPr lang="en-US" sz="5600" b="true">
                <a:solidFill>
                  <a:srgbClr val="FBF9F1"/>
                </a:solidFill>
                <a:latin typeface="Poppins Bold"/>
                <a:ea typeface="Poppins Bold"/>
                <a:cs typeface="Poppins Bold"/>
                <a:sym typeface="Poppins Bold"/>
              </a:rPr>
              <a:t>COMMUNICATION PLAN</a:t>
            </a:r>
          </a:p>
        </p:txBody>
      </p:sp>
      <p:sp>
        <p:nvSpPr>
          <p:cNvPr name="TextBox 3" id="3"/>
          <p:cNvSpPr txBox="true"/>
          <p:nvPr/>
        </p:nvSpPr>
        <p:spPr>
          <a:xfrm rot="0">
            <a:off x="1028700" y="952500"/>
            <a:ext cx="16014982" cy="8749660"/>
          </a:xfrm>
          <a:prstGeom prst="rect">
            <a:avLst/>
          </a:prstGeom>
        </p:spPr>
        <p:txBody>
          <a:bodyPr anchor="t" rtlCol="false" tIns="0" lIns="0" bIns="0" rIns="0">
            <a:spAutoFit/>
          </a:bodyPr>
          <a:lstStyle/>
          <a:p>
            <a:pPr algn="l">
              <a:lnSpc>
                <a:spcPts val="3885"/>
              </a:lnSpc>
            </a:pPr>
            <a:r>
              <a:rPr lang="en-US" sz="2775">
                <a:solidFill>
                  <a:srgbClr val="FBF9F1"/>
                </a:solidFill>
                <a:latin typeface="Poppins"/>
                <a:ea typeface="Poppins"/>
                <a:cs typeface="Poppins"/>
                <a:sym typeface="Poppins"/>
              </a:rPr>
              <a:t>Communication Channels:</a:t>
            </a:r>
          </a:p>
          <a:p>
            <a:pPr algn="l" marL="599165" indent="-299582" lvl="1">
              <a:lnSpc>
                <a:spcPts val="3885"/>
              </a:lnSpc>
              <a:buFont typeface="Arial"/>
              <a:buChar char="•"/>
            </a:pPr>
            <a:r>
              <a:rPr lang="en-US" sz="2775">
                <a:solidFill>
                  <a:srgbClr val="FBF9F1"/>
                </a:solidFill>
                <a:latin typeface="Poppins"/>
                <a:ea typeface="Poppins"/>
                <a:cs typeface="Poppins"/>
                <a:sym typeface="Poppins"/>
              </a:rPr>
              <a:t>Project Management Tools: Use tools like Jira, Asana, or Microsoft Projects for task management and progress tracking.</a:t>
            </a:r>
          </a:p>
          <a:p>
            <a:pPr algn="l" marL="599165" indent="-299582" lvl="1">
              <a:lnSpc>
                <a:spcPts val="3885"/>
              </a:lnSpc>
              <a:buFont typeface="Arial"/>
              <a:buChar char="•"/>
            </a:pPr>
            <a:r>
              <a:rPr lang="en-US" sz="2775">
                <a:solidFill>
                  <a:srgbClr val="FBF9F1"/>
                </a:solidFill>
                <a:latin typeface="Poppins"/>
                <a:ea typeface="Poppins"/>
                <a:cs typeface="Poppins"/>
                <a:sym typeface="Poppins"/>
              </a:rPr>
              <a:t>Video Conferencing: Use Zoom, Google Meets, or Microsoft Teams for weekly team meetings across time zones.</a:t>
            </a:r>
          </a:p>
          <a:p>
            <a:pPr algn="l" marL="599165" indent="-299582" lvl="1">
              <a:lnSpc>
                <a:spcPts val="3885"/>
              </a:lnSpc>
              <a:buFont typeface="Arial"/>
              <a:buChar char="•"/>
            </a:pPr>
            <a:r>
              <a:rPr lang="en-US" sz="2775">
                <a:solidFill>
                  <a:srgbClr val="FBF9F1"/>
                </a:solidFill>
                <a:latin typeface="Poppins"/>
                <a:ea typeface="Poppins"/>
                <a:cs typeface="Poppins"/>
                <a:sym typeface="Poppins"/>
              </a:rPr>
              <a:t>Instant Message: Slack or Teams for daily updates.</a:t>
            </a:r>
          </a:p>
          <a:p>
            <a:pPr algn="l" marL="599165" indent="-299582" lvl="1">
              <a:lnSpc>
                <a:spcPts val="3885"/>
              </a:lnSpc>
              <a:buFont typeface="Arial"/>
              <a:buChar char="•"/>
            </a:pPr>
            <a:r>
              <a:rPr lang="en-US" sz="2775">
                <a:solidFill>
                  <a:srgbClr val="FBF9F1"/>
                </a:solidFill>
                <a:latin typeface="Poppins"/>
                <a:ea typeface="Poppins"/>
                <a:cs typeface="Poppins"/>
                <a:sym typeface="Poppins"/>
              </a:rPr>
              <a:t>Email: Formal communications, especially for legal, regulatory, and marketing updates.</a:t>
            </a:r>
          </a:p>
          <a:p>
            <a:pPr algn="l">
              <a:lnSpc>
                <a:spcPts val="3885"/>
              </a:lnSpc>
            </a:pPr>
            <a:r>
              <a:rPr lang="en-US" sz="2775">
                <a:solidFill>
                  <a:srgbClr val="FBF9F1"/>
                </a:solidFill>
                <a:latin typeface="Poppins"/>
                <a:ea typeface="Poppins"/>
                <a:cs typeface="Poppins"/>
                <a:sym typeface="Poppins"/>
              </a:rPr>
              <a:t>Meeting Schedule:</a:t>
            </a:r>
          </a:p>
          <a:p>
            <a:pPr algn="l" marL="599165" indent="-299582" lvl="1">
              <a:lnSpc>
                <a:spcPts val="3885"/>
              </a:lnSpc>
              <a:buFont typeface="Arial"/>
              <a:buChar char="•"/>
            </a:pPr>
            <a:r>
              <a:rPr lang="en-US" sz="2775">
                <a:solidFill>
                  <a:srgbClr val="FBF9F1"/>
                </a:solidFill>
                <a:latin typeface="Poppins"/>
                <a:ea typeface="Poppins"/>
                <a:cs typeface="Poppins"/>
                <a:sym typeface="Poppins"/>
              </a:rPr>
              <a:t>Weekly Team Meetings: Synchronized across time zones. Rotate meeting times to accomodate various teams.</a:t>
            </a:r>
          </a:p>
          <a:p>
            <a:pPr algn="l" marL="599165" indent="-299582" lvl="1">
              <a:lnSpc>
                <a:spcPts val="3885"/>
              </a:lnSpc>
              <a:buFont typeface="Arial"/>
              <a:buChar char="•"/>
            </a:pPr>
            <a:r>
              <a:rPr lang="en-US" sz="2775">
                <a:solidFill>
                  <a:srgbClr val="FBF9F1"/>
                </a:solidFill>
                <a:latin typeface="Poppins"/>
                <a:ea typeface="Poppins"/>
                <a:cs typeface="Poppins"/>
                <a:sym typeface="Poppins"/>
              </a:rPr>
              <a:t>Daily Standups: For development teams, use asynchronous communication for those in different time zones.</a:t>
            </a:r>
          </a:p>
          <a:p>
            <a:pPr algn="l" marL="599165" indent="-299582" lvl="1">
              <a:lnSpc>
                <a:spcPts val="3885"/>
              </a:lnSpc>
              <a:buFont typeface="Arial"/>
              <a:buChar char="•"/>
            </a:pPr>
            <a:r>
              <a:rPr lang="en-US" sz="2775">
                <a:solidFill>
                  <a:srgbClr val="FBF9F1"/>
                </a:solidFill>
                <a:latin typeface="Poppins"/>
                <a:ea typeface="Poppins"/>
                <a:cs typeface="Poppins"/>
                <a:sym typeface="Poppins"/>
              </a:rPr>
              <a:t>Monthly Steering Meetings: Executive team to review project progress.</a:t>
            </a:r>
          </a:p>
          <a:p>
            <a:pPr algn="l">
              <a:lnSpc>
                <a:spcPts val="3885"/>
              </a:lnSpc>
            </a:pPr>
            <a:r>
              <a:rPr lang="en-US" sz="2775">
                <a:solidFill>
                  <a:srgbClr val="FBF9F1"/>
                </a:solidFill>
                <a:latin typeface="Poppins"/>
                <a:ea typeface="Poppins"/>
                <a:cs typeface="Poppins"/>
                <a:sym typeface="Poppins"/>
              </a:rPr>
              <a:t>Global Considerations:</a:t>
            </a:r>
          </a:p>
          <a:p>
            <a:pPr algn="l" marL="599165" indent="-299582" lvl="1">
              <a:lnSpc>
                <a:spcPts val="3885"/>
              </a:lnSpc>
              <a:buFont typeface="Arial"/>
              <a:buChar char="•"/>
            </a:pPr>
            <a:r>
              <a:rPr lang="en-US" sz="2775">
                <a:solidFill>
                  <a:srgbClr val="FBF9F1"/>
                </a:solidFill>
                <a:latin typeface="Poppins"/>
                <a:ea typeface="Poppins"/>
                <a:cs typeface="Poppins"/>
                <a:sym typeface="Poppins"/>
              </a:rPr>
              <a:t>Language Barriers: Provide project documentation in English and local languages if needed.</a:t>
            </a:r>
          </a:p>
          <a:p>
            <a:pPr algn="l" marL="599165" indent="-299582" lvl="1">
              <a:lnSpc>
                <a:spcPts val="3885"/>
              </a:lnSpc>
              <a:buFont typeface="Arial"/>
              <a:buChar char="•"/>
            </a:pPr>
            <a:r>
              <a:rPr lang="en-US" sz="2775">
                <a:solidFill>
                  <a:srgbClr val="FBF9F1"/>
                </a:solidFill>
                <a:latin typeface="Poppins"/>
                <a:ea typeface="Poppins"/>
                <a:cs typeface="Poppins"/>
                <a:sym typeface="Poppins"/>
              </a:rPr>
              <a:t>Cultural Sensitivity: Be aware of holidays, weekends, and working styles across countries to minimize disruptions.</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708917" y="1778422"/>
          <a:ext cx="14756408" cy="8991600"/>
        </p:xfrm>
        <a:graphic>
          <a:graphicData uri="http://schemas.openxmlformats.org/drawingml/2006/table">
            <a:tbl>
              <a:tblPr/>
              <a:tblGrid>
                <a:gridCol w="3846025"/>
                <a:gridCol w="1538887"/>
                <a:gridCol w="1299748"/>
                <a:gridCol w="8071748"/>
              </a:tblGrid>
              <a:tr h="1147864">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Risk</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Likelihood</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Impact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Lato Bold"/>
                          <a:ea typeface="Lato Bold"/>
                          <a:cs typeface="Lato Bold"/>
                          <a:sym typeface="Lato Bold"/>
                        </a:rPr>
                        <a:t>Mitigation Strategy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47864">
                <a:tc>
                  <a:txBody>
                    <a:bodyPr anchor="t" rtlCol="false"/>
                    <a:lstStyle/>
                    <a:p>
                      <a:pPr algn="ctr">
                        <a:lnSpc>
                          <a:spcPts val="2659"/>
                        </a:lnSpc>
                        <a:defRPr/>
                      </a:pPr>
                      <a:r>
                        <a:rPr lang="en-US" sz="1899">
                          <a:solidFill>
                            <a:srgbClr val="FFFFFF"/>
                          </a:solidFill>
                          <a:latin typeface="Lato"/>
                          <a:ea typeface="Lato"/>
                          <a:cs typeface="Lato"/>
                          <a:sym typeface="Lato"/>
                        </a:rPr>
                        <a:t>International Regulatory Delays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High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High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Engage legal experts early for each region. Allow buffer time in schedule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3070">
                <a:tc>
                  <a:txBody>
                    <a:bodyPr anchor="t" rtlCol="false"/>
                    <a:lstStyle/>
                    <a:p>
                      <a:pPr algn="ctr">
                        <a:lnSpc>
                          <a:spcPts val="2659"/>
                        </a:lnSpc>
                        <a:defRPr/>
                      </a:pPr>
                      <a:r>
                        <a:rPr lang="en-US" sz="1899">
                          <a:solidFill>
                            <a:srgbClr val="FFFFFF"/>
                          </a:solidFill>
                          <a:latin typeface="Lato"/>
                          <a:ea typeface="Lato"/>
                          <a:cs typeface="Lato"/>
                          <a:sym typeface="Lato"/>
                        </a:rPr>
                        <a:t>Supply Chain Disruptions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Medium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High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Source alternative suppliers, maintain inventory of critical components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3070">
                <a:tc>
                  <a:txBody>
                    <a:bodyPr anchor="t" rtlCol="false"/>
                    <a:lstStyle/>
                    <a:p>
                      <a:pPr algn="ctr">
                        <a:lnSpc>
                          <a:spcPts val="2659"/>
                        </a:lnSpc>
                        <a:defRPr/>
                      </a:pPr>
                      <a:r>
                        <a:rPr lang="en-US" sz="1899">
                          <a:solidFill>
                            <a:srgbClr val="FFFFFF"/>
                          </a:solidFill>
                          <a:latin typeface="Lato"/>
                          <a:ea typeface="Lato"/>
                          <a:cs typeface="Lato"/>
                          <a:sym typeface="Lato"/>
                        </a:rPr>
                        <a:t>Geopolitical Instability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Medium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High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Monitor geopolitical developments and establish contingency plans.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47864">
                <a:tc>
                  <a:txBody>
                    <a:bodyPr anchor="t" rtlCol="false"/>
                    <a:lstStyle/>
                    <a:p>
                      <a:pPr algn="ctr">
                        <a:lnSpc>
                          <a:spcPts val="2659"/>
                        </a:lnSpc>
                        <a:defRPr/>
                      </a:pPr>
                      <a:r>
                        <a:rPr lang="en-US" sz="1899">
                          <a:solidFill>
                            <a:srgbClr val="FFFFFF"/>
                          </a:solidFill>
                          <a:latin typeface="Lato"/>
                          <a:ea typeface="Lato"/>
                          <a:cs typeface="Lato"/>
                          <a:sym typeface="Lato"/>
                        </a:rPr>
                        <a:t>Data Privacy Compliance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High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Medium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Work with compliance experts to audit data practices early.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47864">
                <a:tc>
                  <a:txBody>
                    <a:bodyPr anchor="t" rtlCol="false"/>
                    <a:lstStyle/>
                    <a:p>
                      <a:pPr algn="ctr">
                        <a:lnSpc>
                          <a:spcPts val="2659"/>
                        </a:lnSpc>
                        <a:defRPr/>
                      </a:pPr>
                      <a:r>
                        <a:rPr lang="en-US" sz="1899">
                          <a:solidFill>
                            <a:srgbClr val="FFFFFF"/>
                          </a:solidFill>
                          <a:latin typeface="Lato"/>
                          <a:ea typeface="Lato"/>
                          <a:cs typeface="Lato"/>
                          <a:sym typeface="Lato"/>
                        </a:rPr>
                        <a:t>Cultural Miscommunication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Medium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Medium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Conduct cross-cultural training for teams. Use visuals in documentation.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3070">
                <a:tc>
                  <a:txBody>
                    <a:bodyPr anchor="t" rtlCol="false"/>
                    <a:lstStyle/>
                    <a:p>
                      <a:pPr algn="ctr">
                        <a:lnSpc>
                          <a:spcPts val="2659"/>
                        </a:lnSpc>
                        <a:defRPr/>
                      </a:pPr>
                      <a:r>
                        <a:rPr lang="en-US" sz="1899">
                          <a:solidFill>
                            <a:srgbClr val="FFFFFF"/>
                          </a:solidFill>
                          <a:latin typeface="Lato"/>
                          <a:ea typeface="Lato"/>
                          <a:cs typeface="Lato"/>
                          <a:sym typeface="Lato"/>
                        </a:rPr>
                        <a:t>Key Personnel Unavailability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Medium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High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Cross-train team members. Keep detailed process documentation.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13070">
                <a:tc>
                  <a:txBody>
                    <a:bodyPr anchor="t" rtlCol="false"/>
                    <a:lstStyle/>
                    <a:p>
                      <a:pPr algn="ctr">
                        <a:lnSpc>
                          <a:spcPts val="2659"/>
                        </a:lnSpc>
                        <a:defRPr/>
                      </a:pPr>
                      <a:r>
                        <a:rPr lang="en-US" sz="1899">
                          <a:solidFill>
                            <a:srgbClr val="FFFFFF"/>
                          </a:solidFill>
                          <a:latin typeface="Lato"/>
                          <a:ea typeface="Lato"/>
                          <a:cs typeface="Lato"/>
                          <a:sym typeface="Lato"/>
                        </a:rPr>
                        <a:t>Technology Failures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Low</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High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Regular backups, load testing, and cloud redundancy.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47864">
                <a:tc>
                  <a:txBody>
                    <a:bodyPr anchor="t" rtlCol="false"/>
                    <a:lstStyle/>
                    <a:p>
                      <a:pPr algn="ctr">
                        <a:lnSpc>
                          <a:spcPts val="2659"/>
                        </a:lnSpc>
                        <a:defRPr/>
                      </a:pPr>
                      <a:r>
                        <a:rPr lang="en-US" sz="1899">
                          <a:solidFill>
                            <a:srgbClr val="FFFFFF"/>
                          </a:solidFill>
                          <a:latin typeface="Lato"/>
                          <a:ea typeface="Lato"/>
                          <a:cs typeface="Lato"/>
                          <a:sym typeface="Lato"/>
                        </a:rPr>
                        <a:t>Currency Exchange Fluctuations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Medium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Medium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Lato"/>
                          <a:ea typeface="Lato"/>
                          <a:cs typeface="Lato"/>
                          <a:sym typeface="Lato"/>
                        </a:rPr>
                        <a:t>Hedge against exchange rate fluctuations for payments.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4275583" y="176530"/>
            <a:ext cx="14477255" cy="852170"/>
          </a:xfrm>
          <a:prstGeom prst="rect">
            <a:avLst/>
          </a:prstGeom>
        </p:spPr>
        <p:txBody>
          <a:bodyPr anchor="t" rtlCol="false" tIns="0" lIns="0" bIns="0" rIns="0">
            <a:spAutoFit/>
          </a:bodyPr>
          <a:lstStyle/>
          <a:p>
            <a:pPr algn="l">
              <a:lnSpc>
                <a:spcPts val="6160"/>
              </a:lnSpc>
            </a:pPr>
            <a:r>
              <a:rPr lang="en-US" sz="5600" b="true">
                <a:solidFill>
                  <a:srgbClr val="FBF9F1"/>
                </a:solidFill>
                <a:latin typeface="Poppins Bold"/>
                <a:ea typeface="Poppins Bold"/>
                <a:cs typeface="Poppins Bold"/>
                <a:sym typeface="Poppins Bold"/>
              </a:rPr>
              <a:t>RISK MANAGEMENT PLAN</a:t>
            </a:r>
          </a:p>
        </p:txBody>
      </p:sp>
      <p:sp>
        <p:nvSpPr>
          <p:cNvPr name="TextBox 4" id="4"/>
          <p:cNvSpPr txBox="true"/>
          <p:nvPr/>
        </p:nvSpPr>
        <p:spPr>
          <a:xfrm rot="0">
            <a:off x="708917" y="914400"/>
            <a:ext cx="16014982" cy="718181"/>
          </a:xfrm>
          <a:prstGeom prst="rect">
            <a:avLst/>
          </a:prstGeom>
        </p:spPr>
        <p:txBody>
          <a:bodyPr anchor="t" rtlCol="false" tIns="0" lIns="0" bIns="0" rIns="0">
            <a:spAutoFit/>
          </a:bodyPr>
          <a:lstStyle/>
          <a:p>
            <a:pPr algn="l">
              <a:lnSpc>
                <a:spcPts val="5565"/>
              </a:lnSpc>
            </a:pPr>
            <a:r>
              <a:rPr lang="en-US" sz="3975">
                <a:solidFill>
                  <a:srgbClr val="FBF9F1"/>
                </a:solidFill>
                <a:latin typeface="Poppins"/>
                <a:ea typeface="Poppins"/>
                <a:cs typeface="Poppins"/>
                <a:sym typeface="Poppins"/>
              </a:rPr>
              <a:t>Risk Register:</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3098056" y="176530"/>
            <a:ext cx="14477255" cy="852170"/>
          </a:xfrm>
          <a:prstGeom prst="rect">
            <a:avLst/>
          </a:prstGeom>
        </p:spPr>
        <p:txBody>
          <a:bodyPr anchor="t" rtlCol="false" tIns="0" lIns="0" bIns="0" rIns="0">
            <a:spAutoFit/>
          </a:bodyPr>
          <a:lstStyle/>
          <a:p>
            <a:pPr algn="l">
              <a:lnSpc>
                <a:spcPts val="6160"/>
              </a:lnSpc>
            </a:pPr>
            <a:r>
              <a:rPr lang="en-US" sz="5600" b="true">
                <a:solidFill>
                  <a:srgbClr val="FBF9F1"/>
                </a:solidFill>
                <a:latin typeface="Poppins Bold"/>
                <a:ea typeface="Poppins Bold"/>
                <a:cs typeface="Poppins Bold"/>
                <a:sym typeface="Poppins Bold"/>
              </a:rPr>
              <a:t>RISK MANAGEMENT PLAN CONT.</a:t>
            </a:r>
          </a:p>
        </p:txBody>
      </p:sp>
      <p:sp>
        <p:nvSpPr>
          <p:cNvPr name="TextBox 3" id="3"/>
          <p:cNvSpPr txBox="true"/>
          <p:nvPr/>
        </p:nvSpPr>
        <p:spPr>
          <a:xfrm rot="0">
            <a:off x="1028700" y="1207428"/>
            <a:ext cx="16014982" cy="8161015"/>
          </a:xfrm>
          <a:prstGeom prst="rect">
            <a:avLst/>
          </a:prstGeom>
        </p:spPr>
        <p:txBody>
          <a:bodyPr anchor="t" rtlCol="false" tIns="0" lIns="0" bIns="0" rIns="0">
            <a:spAutoFit/>
          </a:bodyPr>
          <a:lstStyle/>
          <a:p>
            <a:pPr algn="l">
              <a:lnSpc>
                <a:spcPts val="4305"/>
              </a:lnSpc>
            </a:pPr>
            <a:r>
              <a:rPr lang="en-US" sz="3075">
                <a:solidFill>
                  <a:srgbClr val="FBF9F1"/>
                </a:solidFill>
                <a:latin typeface="Poppins"/>
                <a:ea typeface="Poppins"/>
                <a:cs typeface="Poppins"/>
                <a:sym typeface="Poppins"/>
              </a:rPr>
              <a:t>Mitigation Strategies:</a:t>
            </a:r>
          </a:p>
          <a:p>
            <a:pPr algn="l" marL="663933" indent="-331966" lvl="1">
              <a:lnSpc>
                <a:spcPts val="4305"/>
              </a:lnSpc>
              <a:buFont typeface="Arial"/>
              <a:buChar char="•"/>
            </a:pPr>
            <a:r>
              <a:rPr lang="en-US" sz="3075">
                <a:solidFill>
                  <a:srgbClr val="FBF9F1"/>
                </a:solidFill>
                <a:latin typeface="Poppins"/>
                <a:ea typeface="Poppins"/>
                <a:cs typeface="Poppins"/>
                <a:sym typeface="Poppins"/>
              </a:rPr>
              <a:t>Early legal Consultation: Engage with legal teams early for GDPR, COPPA, and international broadcasting approval.</a:t>
            </a:r>
          </a:p>
          <a:p>
            <a:pPr algn="l" marL="663933" indent="-331966" lvl="1">
              <a:lnSpc>
                <a:spcPts val="4305"/>
              </a:lnSpc>
              <a:buFont typeface="Arial"/>
              <a:buChar char="•"/>
            </a:pPr>
            <a:r>
              <a:rPr lang="en-US" sz="3075">
                <a:solidFill>
                  <a:srgbClr val="FBF9F1"/>
                </a:solidFill>
                <a:latin typeface="Poppins"/>
                <a:ea typeface="Poppins"/>
                <a:cs typeface="Poppins"/>
                <a:sym typeface="Poppins"/>
              </a:rPr>
              <a:t>Supply Chain Monitoring: Partner with multiple suppliers and maintain a buffer of key supplies to prevent delays.</a:t>
            </a:r>
          </a:p>
          <a:p>
            <a:pPr algn="l" marL="663933" indent="-331966" lvl="1">
              <a:lnSpc>
                <a:spcPts val="4305"/>
              </a:lnSpc>
              <a:buFont typeface="Arial"/>
              <a:buChar char="•"/>
            </a:pPr>
            <a:r>
              <a:rPr lang="en-US" sz="3075">
                <a:solidFill>
                  <a:srgbClr val="FBF9F1"/>
                </a:solidFill>
                <a:latin typeface="Poppins"/>
                <a:ea typeface="Poppins"/>
                <a:cs typeface="Poppins"/>
                <a:sym typeface="Poppins"/>
              </a:rPr>
              <a:t>Cross Training: Ensure multiple team members are capable of taking over critical roles if someone becomes unavailable.</a:t>
            </a:r>
          </a:p>
          <a:p>
            <a:pPr algn="l" marL="663933" indent="-331966" lvl="1">
              <a:lnSpc>
                <a:spcPts val="4305"/>
              </a:lnSpc>
              <a:buFont typeface="Arial"/>
              <a:buChar char="•"/>
            </a:pPr>
            <a:r>
              <a:rPr lang="en-US" sz="3075">
                <a:solidFill>
                  <a:srgbClr val="FBF9F1"/>
                </a:solidFill>
                <a:latin typeface="Poppins"/>
                <a:ea typeface="Poppins"/>
                <a:cs typeface="Poppins"/>
                <a:sym typeface="Poppins"/>
              </a:rPr>
              <a:t>Backup Systems: Cloud redundancy for key infrastrucutre to minimize downtime due to technology failures.</a:t>
            </a:r>
          </a:p>
          <a:p>
            <a:pPr algn="l">
              <a:lnSpc>
                <a:spcPts val="4305"/>
              </a:lnSpc>
            </a:pPr>
          </a:p>
          <a:p>
            <a:pPr algn="l">
              <a:lnSpc>
                <a:spcPts val="4305"/>
              </a:lnSpc>
            </a:pPr>
            <a:r>
              <a:rPr lang="en-US" sz="3075">
                <a:solidFill>
                  <a:srgbClr val="FBF9F1"/>
                </a:solidFill>
                <a:latin typeface="Poppins"/>
                <a:ea typeface="Poppins"/>
                <a:cs typeface="Poppins"/>
                <a:sym typeface="Poppins"/>
              </a:rPr>
              <a:t>Global considerations:</a:t>
            </a:r>
          </a:p>
          <a:p>
            <a:pPr algn="l" marL="663933" indent="-331966" lvl="1">
              <a:lnSpc>
                <a:spcPts val="4305"/>
              </a:lnSpc>
              <a:buFont typeface="Arial"/>
              <a:buChar char="•"/>
            </a:pPr>
            <a:r>
              <a:rPr lang="en-US" sz="3075">
                <a:solidFill>
                  <a:srgbClr val="FBF9F1"/>
                </a:solidFill>
                <a:latin typeface="Poppins"/>
                <a:ea typeface="Poppins"/>
                <a:cs typeface="Poppins"/>
                <a:sym typeface="Poppins"/>
              </a:rPr>
              <a:t>Geopolitical Risks: Regularly assess the stability of key regions for the supply chain and regulatory approval.</a:t>
            </a:r>
          </a:p>
          <a:p>
            <a:pPr algn="l" marL="663933" indent="-331966" lvl="1">
              <a:lnSpc>
                <a:spcPts val="4305"/>
              </a:lnSpc>
              <a:buFont typeface="Arial"/>
              <a:buChar char="•"/>
            </a:pPr>
            <a:r>
              <a:rPr lang="en-US" sz="3075">
                <a:solidFill>
                  <a:srgbClr val="FBF9F1"/>
                </a:solidFill>
                <a:latin typeface="Poppins"/>
                <a:ea typeface="Poppins"/>
                <a:cs typeface="Poppins"/>
                <a:sym typeface="Poppins"/>
              </a:rPr>
              <a:t>International Supply Chain: Monitor global logstics trends and adjust timelines and sourcing strategies as needed.</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30878" y="1206200"/>
            <a:ext cx="17026244" cy="9853991"/>
          </a:xfrm>
          <a:prstGeom prst="rect">
            <a:avLst/>
          </a:prstGeom>
        </p:spPr>
        <p:txBody>
          <a:bodyPr anchor="t" rtlCol="false" tIns="0" lIns="0" bIns="0" rIns="0">
            <a:spAutoFit/>
          </a:bodyPr>
          <a:lstStyle/>
          <a:p>
            <a:pPr algn="l" marL="596684" indent="-298342" lvl="1">
              <a:lnSpc>
                <a:spcPts val="4145"/>
              </a:lnSpc>
              <a:buFont typeface="Arial"/>
              <a:buChar char="•"/>
            </a:pPr>
            <a:r>
              <a:rPr lang="en-US" b="true" sz="2763" u="sng">
                <a:solidFill>
                  <a:srgbClr val="FBF9F1"/>
                </a:solidFill>
                <a:latin typeface="Poppins Bold"/>
                <a:ea typeface="Poppins Bold"/>
                <a:cs typeface="Poppins Bold"/>
                <a:sym typeface="Poppins Bold"/>
              </a:rPr>
              <a:t>Resource  Acquisition </a:t>
            </a:r>
            <a:r>
              <a:rPr lang="en-US" b="true" sz="2763" strike="noStrike" u="sng">
                <a:solidFill>
                  <a:srgbClr val="FBF9F1"/>
                </a:solidFill>
                <a:latin typeface="Poppins Bold"/>
                <a:ea typeface="Poppins Bold"/>
                <a:cs typeface="Poppins Bold"/>
                <a:sym typeface="Poppins Bold"/>
              </a:rPr>
              <a:t>(Month 1</a:t>
            </a:r>
            <a:r>
              <a:rPr lang="en-US" b="true" sz="2763" strike="noStrike" u="none">
                <a:solidFill>
                  <a:srgbClr val="FBF9F1"/>
                </a:solidFill>
                <a:latin typeface="Poppins Bold"/>
                <a:ea typeface="Poppins Bold"/>
                <a:cs typeface="Poppins Bold"/>
                <a:sym typeface="Poppins Bold"/>
              </a:rPr>
              <a:t>)</a:t>
            </a:r>
            <a:r>
              <a:rPr lang="en-US" sz="2763" strike="noStrike" u="none">
                <a:solidFill>
                  <a:srgbClr val="FBF9F1"/>
                </a:solidFill>
                <a:latin typeface="Poppins"/>
                <a:ea typeface="Poppins"/>
                <a:cs typeface="Poppins"/>
                <a:sym typeface="Poppins"/>
              </a:rPr>
              <a:t>- Based on the following key task assignments for teams, human and financial resources will be acquired in phases, teams formed &amp; managed, and deliverables achieved as planned earlier.</a:t>
            </a:r>
          </a:p>
          <a:p>
            <a:pPr algn="l">
              <a:lnSpc>
                <a:spcPts val="4449"/>
              </a:lnSpc>
            </a:pPr>
          </a:p>
          <a:p>
            <a:pPr algn="l">
              <a:lnSpc>
                <a:spcPts val="4449"/>
              </a:lnSpc>
            </a:pPr>
          </a:p>
          <a:p>
            <a:pPr algn="l">
              <a:lnSpc>
                <a:spcPts val="4145"/>
              </a:lnSpc>
            </a:pPr>
          </a:p>
          <a:p>
            <a:pPr algn="l">
              <a:lnSpc>
                <a:spcPts val="4145"/>
              </a:lnSpc>
            </a:pPr>
          </a:p>
          <a:p>
            <a:pPr algn="l">
              <a:lnSpc>
                <a:spcPts val="4145"/>
              </a:lnSpc>
            </a:pPr>
          </a:p>
          <a:p>
            <a:pPr algn="l">
              <a:lnSpc>
                <a:spcPts val="4145"/>
              </a:lnSpc>
            </a:pPr>
          </a:p>
          <a:p>
            <a:pPr algn="l">
              <a:lnSpc>
                <a:spcPts val="4145"/>
              </a:lnSpc>
            </a:pPr>
          </a:p>
          <a:p>
            <a:pPr algn="l" marL="596684" indent="-298342" lvl="1">
              <a:lnSpc>
                <a:spcPts val="4560"/>
              </a:lnSpc>
              <a:buFont typeface="Arial"/>
              <a:buChar char="•"/>
            </a:pPr>
            <a:r>
              <a:rPr lang="en-US" sz="2763" strike="noStrike" u="none">
                <a:solidFill>
                  <a:srgbClr val="FBF9F1"/>
                </a:solidFill>
                <a:latin typeface="Poppins"/>
                <a:ea typeface="Poppins"/>
                <a:cs typeface="Poppins"/>
                <a:sym typeface="Poppins"/>
              </a:rPr>
              <a:t>Adequate human and financial resource acquisition </a:t>
            </a:r>
            <a:r>
              <a:rPr lang="en-US" b="true" sz="2763" strike="noStrike" u="none">
                <a:solidFill>
                  <a:srgbClr val="FBF9F1"/>
                </a:solidFill>
                <a:latin typeface="Poppins Bold"/>
                <a:ea typeface="Poppins Bold"/>
                <a:cs typeface="Poppins Bold"/>
                <a:sym typeface="Poppins Bold"/>
              </a:rPr>
              <a:t>precedes product development.</a:t>
            </a:r>
          </a:p>
          <a:p>
            <a:pPr algn="l" marL="596684" indent="-298342" lvl="1">
              <a:lnSpc>
                <a:spcPts val="4560"/>
              </a:lnSpc>
              <a:buFont typeface="Arial"/>
              <a:buChar char="•"/>
            </a:pPr>
            <a:r>
              <a:rPr lang="en-US" sz="2763" strike="noStrike" u="none">
                <a:solidFill>
                  <a:srgbClr val="FBF9F1"/>
                </a:solidFill>
                <a:latin typeface="Poppins"/>
                <a:ea typeface="Poppins"/>
                <a:cs typeface="Poppins"/>
                <a:sym typeface="Poppins"/>
              </a:rPr>
              <a:t>Engineers, UI designers, and functional leaders will be recruited through recruitment campaigns. Employees will be assigned to planned project teams based on regions, and teams managed through conflict resolution and negotiation techniques by Project Manager and Team Leaders to ensure effective product development. </a:t>
            </a:r>
          </a:p>
          <a:p>
            <a:pPr algn="l">
              <a:lnSpc>
                <a:spcPts val="4449"/>
              </a:lnSpc>
            </a:pPr>
          </a:p>
          <a:p>
            <a:pPr algn="l">
              <a:lnSpc>
                <a:spcPts val="4449"/>
              </a:lnSpc>
            </a:pPr>
          </a:p>
          <a:p>
            <a:pPr algn="l">
              <a:lnSpc>
                <a:spcPts val="4449"/>
              </a:lnSpc>
            </a:pPr>
          </a:p>
        </p:txBody>
      </p:sp>
      <p:sp>
        <p:nvSpPr>
          <p:cNvPr name="TextBox 3" id="3"/>
          <p:cNvSpPr txBox="true"/>
          <p:nvPr/>
        </p:nvSpPr>
        <p:spPr>
          <a:xfrm rot="0">
            <a:off x="5495925" y="176530"/>
            <a:ext cx="7296150" cy="852170"/>
          </a:xfrm>
          <a:prstGeom prst="rect">
            <a:avLst/>
          </a:prstGeom>
        </p:spPr>
        <p:txBody>
          <a:bodyPr anchor="t" rtlCol="false" tIns="0" lIns="0" bIns="0" rIns="0">
            <a:spAutoFit/>
          </a:bodyPr>
          <a:lstStyle/>
          <a:p>
            <a:pPr algn="ctr">
              <a:lnSpc>
                <a:spcPts val="6160"/>
              </a:lnSpc>
              <a:spcBef>
                <a:spcPct val="0"/>
              </a:spcBef>
            </a:pPr>
            <a:r>
              <a:rPr lang="en-US" b="true" sz="5600">
                <a:solidFill>
                  <a:srgbClr val="FBF9F1"/>
                </a:solidFill>
                <a:latin typeface="Poppins Bold"/>
                <a:ea typeface="Poppins Bold"/>
                <a:cs typeface="Poppins Bold"/>
                <a:sym typeface="Poppins Bold"/>
              </a:rPr>
              <a:t>EXECUTION  OUTLINE</a:t>
            </a:r>
          </a:p>
        </p:txBody>
      </p:sp>
      <p:sp>
        <p:nvSpPr>
          <p:cNvPr name="TextBox 4" id="4"/>
          <p:cNvSpPr txBox="true"/>
          <p:nvPr/>
        </p:nvSpPr>
        <p:spPr>
          <a:xfrm rot="0">
            <a:off x="1364680" y="2806392"/>
            <a:ext cx="16178708" cy="3950315"/>
          </a:xfrm>
          <a:prstGeom prst="rect">
            <a:avLst/>
          </a:prstGeom>
        </p:spPr>
        <p:txBody>
          <a:bodyPr anchor="t" rtlCol="false" tIns="0" lIns="0" bIns="0" rIns="0">
            <a:spAutoFit/>
          </a:bodyPr>
          <a:lstStyle/>
          <a:p>
            <a:pPr algn="l" marL="577617" indent="-288809" lvl="1">
              <a:lnSpc>
                <a:spcPts val="4548"/>
              </a:lnSpc>
              <a:buAutoNum type="arabicPeriod" startAt="1"/>
            </a:pPr>
            <a:r>
              <a:rPr lang="en-US" b="true" sz="2675" strike="noStrike" u="none">
                <a:solidFill>
                  <a:srgbClr val="FBF9F1"/>
                </a:solidFill>
                <a:latin typeface="Poppins Bold"/>
                <a:ea typeface="Poppins Bold"/>
                <a:cs typeface="Poppins Bold"/>
                <a:sym typeface="Poppins Bold"/>
              </a:rPr>
              <a:t>Product Development Team</a:t>
            </a:r>
            <a:r>
              <a:rPr lang="en-US" sz="2675" strike="noStrike" u="none">
                <a:solidFill>
                  <a:srgbClr val="FBF9F1"/>
                </a:solidFill>
                <a:latin typeface="Poppins"/>
                <a:ea typeface="Poppins"/>
                <a:cs typeface="Poppins"/>
                <a:sym typeface="Poppins"/>
              </a:rPr>
              <a:t>- interface design and technology development</a:t>
            </a:r>
          </a:p>
          <a:p>
            <a:pPr algn="l" marL="577617" indent="-288809" lvl="1">
              <a:lnSpc>
                <a:spcPts val="4548"/>
              </a:lnSpc>
              <a:buAutoNum type="arabicPeriod" startAt="1"/>
            </a:pPr>
            <a:r>
              <a:rPr lang="en-US" b="true" sz="2675" strike="noStrike" u="none">
                <a:solidFill>
                  <a:srgbClr val="FBF9F1"/>
                </a:solidFill>
                <a:latin typeface="Poppins Bold"/>
                <a:ea typeface="Poppins Bold"/>
                <a:cs typeface="Poppins Bold"/>
                <a:sym typeface="Poppins Bold"/>
              </a:rPr>
              <a:t>Regulatory &amp; Legal team</a:t>
            </a:r>
            <a:r>
              <a:rPr lang="en-US" sz="2675" strike="noStrike" u="none">
                <a:solidFill>
                  <a:srgbClr val="FBF9F1"/>
                </a:solidFill>
                <a:latin typeface="Poppins"/>
                <a:ea typeface="Poppins"/>
                <a:cs typeface="Poppins"/>
                <a:sym typeface="Poppins"/>
              </a:rPr>
              <a:t>- contract reviews, copyright compliance, international regulations adherence &amp; obtaining broadcasting approvals</a:t>
            </a:r>
          </a:p>
          <a:p>
            <a:pPr algn="l" marL="577617" indent="-288809" lvl="1">
              <a:lnSpc>
                <a:spcPts val="4548"/>
              </a:lnSpc>
              <a:buAutoNum type="arabicPeriod" startAt="1"/>
            </a:pPr>
            <a:r>
              <a:rPr lang="en-US" b="true" sz="2675" strike="noStrike" u="none">
                <a:solidFill>
                  <a:srgbClr val="FBF9F1"/>
                </a:solidFill>
                <a:latin typeface="Poppins Bold"/>
                <a:ea typeface="Poppins Bold"/>
                <a:cs typeface="Poppins Bold"/>
                <a:sym typeface="Poppins Bold"/>
              </a:rPr>
              <a:t>Marketing team</a:t>
            </a:r>
            <a:r>
              <a:rPr lang="en-US" sz="2675" strike="noStrike" u="none">
                <a:solidFill>
                  <a:srgbClr val="FBF9F1"/>
                </a:solidFill>
                <a:latin typeface="Poppins"/>
                <a:ea typeface="Poppins"/>
                <a:cs typeface="Poppins"/>
                <a:sym typeface="Poppins"/>
              </a:rPr>
              <a:t>- create brand awareness and achieve product sales pre and post launch</a:t>
            </a:r>
          </a:p>
          <a:p>
            <a:pPr algn="l" marL="577617" indent="-288809" lvl="1">
              <a:lnSpc>
                <a:spcPts val="4548"/>
              </a:lnSpc>
              <a:buAutoNum type="arabicPeriod" startAt="1"/>
            </a:pPr>
            <a:r>
              <a:rPr lang="en-US" b="true" sz="2675" strike="noStrike" u="none">
                <a:solidFill>
                  <a:srgbClr val="FBF9F1"/>
                </a:solidFill>
                <a:latin typeface="Poppins Bold"/>
                <a:ea typeface="Poppins Bold"/>
                <a:cs typeface="Poppins Bold"/>
                <a:sym typeface="Poppins Bold"/>
              </a:rPr>
              <a:t>Payroll team</a:t>
            </a:r>
            <a:r>
              <a:rPr lang="en-US" sz="2675" strike="noStrike" u="none">
                <a:solidFill>
                  <a:srgbClr val="FBF9F1"/>
                </a:solidFill>
                <a:latin typeface="Poppins"/>
                <a:ea typeface="Poppins"/>
                <a:cs typeface="Poppins"/>
                <a:sym typeface="Poppins"/>
              </a:rPr>
              <a:t>- to oversee financial transactions and payments due</a:t>
            </a:r>
          </a:p>
          <a:p>
            <a:pPr algn="l" marL="577617" indent="-288809" lvl="1">
              <a:lnSpc>
                <a:spcPts val="4548"/>
              </a:lnSpc>
              <a:buAutoNum type="arabicPeriod" startAt="1"/>
            </a:pPr>
            <a:r>
              <a:rPr lang="en-US" b="true" sz="2675" strike="noStrike" u="none">
                <a:solidFill>
                  <a:srgbClr val="FBF9F1"/>
                </a:solidFill>
                <a:latin typeface="Poppins Bold"/>
                <a:ea typeface="Poppins Bold"/>
                <a:cs typeface="Poppins Bold"/>
                <a:sym typeface="Poppins Bold"/>
              </a:rPr>
              <a:t>Project Management team</a:t>
            </a:r>
            <a:r>
              <a:rPr lang="en-US" sz="2675" strike="noStrike" u="none">
                <a:solidFill>
                  <a:srgbClr val="FBF9F1"/>
                </a:solidFill>
                <a:latin typeface="Poppins"/>
                <a:ea typeface="Poppins"/>
                <a:cs typeface="Poppins"/>
                <a:sym typeface="Poppins"/>
              </a:rPr>
              <a:t>- project planning and execution</a:t>
            </a:r>
          </a:p>
          <a:p>
            <a:pPr algn="l">
              <a:lnSpc>
                <a:spcPts val="4013"/>
              </a:lnSpc>
            </a:pP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771525" y="1450210"/>
            <a:ext cx="16744950" cy="3227706"/>
          </a:xfrm>
          <a:prstGeom prst="rect">
            <a:avLst/>
          </a:prstGeom>
        </p:spPr>
        <p:txBody>
          <a:bodyPr anchor="t" rtlCol="false" tIns="0" lIns="0" bIns="0" rIns="0">
            <a:spAutoFit/>
          </a:bodyPr>
          <a:lstStyle/>
          <a:p>
            <a:pPr algn="just" marL="626125" indent="-313063" lvl="1">
              <a:lnSpc>
                <a:spcPts val="3190"/>
              </a:lnSpc>
              <a:spcBef>
                <a:spcPct val="0"/>
              </a:spcBef>
              <a:buFont typeface="Arial"/>
              <a:buChar char="•"/>
            </a:pPr>
            <a:r>
              <a:rPr lang="en-US" b="true" sz="2900" u="sng">
                <a:solidFill>
                  <a:srgbClr val="FFFFFF"/>
                </a:solidFill>
                <a:latin typeface="Poppins Bold"/>
                <a:ea typeface="Poppins Bold"/>
                <a:cs typeface="Poppins Bold"/>
                <a:sym typeface="Poppins Bold"/>
              </a:rPr>
              <a:t>Managing teams</a:t>
            </a:r>
            <a:r>
              <a:rPr lang="en-US" sz="2900">
                <a:solidFill>
                  <a:srgbClr val="FFFFFF"/>
                </a:solidFill>
                <a:latin typeface="Poppins"/>
                <a:ea typeface="Poppins"/>
                <a:cs typeface="Poppins"/>
                <a:sym typeface="Poppins"/>
              </a:rPr>
              <a:t>- </a:t>
            </a:r>
            <a:r>
              <a:rPr lang="en-US" sz="2900" strike="noStrike" u="none">
                <a:solidFill>
                  <a:srgbClr val="FFFFFF"/>
                </a:solidFill>
                <a:latin typeface="Poppins"/>
                <a:ea typeface="Poppins"/>
                <a:cs typeface="Poppins"/>
                <a:sym typeface="Poppins"/>
              </a:rPr>
              <a:t>International developers will be managed by regional team leaders ensuring cultural adaptation (work styles accommodation, festivals celebrations and holidays) and accommodating time differences via scheduled meetings on Google Meets and asynchronous communication on emails. </a:t>
            </a:r>
          </a:p>
          <a:p>
            <a:pPr algn="just">
              <a:lnSpc>
                <a:spcPts val="3190"/>
              </a:lnSpc>
              <a:spcBef>
                <a:spcPct val="0"/>
              </a:spcBef>
            </a:pPr>
          </a:p>
          <a:p>
            <a:pPr algn="just" marL="626125" indent="-313063" lvl="1">
              <a:lnSpc>
                <a:spcPts val="3190"/>
              </a:lnSpc>
              <a:spcBef>
                <a:spcPct val="0"/>
              </a:spcBef>
              <a:buFont typeface="Arial"/>
              <a:buChar char="•"/>
            </a:pPr>
            <a:r>
              <a:rPr lang="en-US" sz="2900" strike="noStrike" u="none">
                <a:solidFill>
                  <a:srgbClr val="FFFFFF"/>
                </a:solidFill>
                <a:latin typeface="Poppins"/>
                <a:ea typeface="Poppins"/>
                <a:cs typeface="Poppins"/>
                <a:sym typeface="Poppins"/>
              </a:rPr>
              <a:t>Requisite </a:t>
            </a:r>
            <a:r>
              <a:rPr lang="en-US" b="true" sz="2900" strike="noStrike" u="none">
                <a:solidFill>
                  <a:srgbClr val="FFFFFF"/>
                </a:solidFill>
                <a:latin typeface="Poppins Bold"/>
                <a:ea typeface="Poppins Bold"/>
                <a:cs typeface="Poppins Bold"/>
                <a:sym typeface="Poppins Bold"/>
              </a:rPr>
              <a:t>funds of $9, 00,000 for product development</a:t>
            </a:r>
            <a:r>
              <a:rPr lang="en-US" sz="2900" strike="noStrike" u="none">
                <a:solidFill>
                  <a:srgbClr val="FFFFFF"/>
                </a:solidFill>
                <a:latin typeface="Poppins"/>
                <a:ea typeface="Poppins"/>
                <a:cs typeface="Poppins"/>
                <a:sym typeface="Poppins"/>
              </a:rPr>
              <a:t> will be gathered through planned funding sources- VC firms and individual investors. Finances will be  allocated across regional teams based on need and phase of development.</a:t>
            </a:r>
          </a:p>
        </p:txBody>
      </p:sp>
      <p:sp>
        <p:nvSpPr>
          <p:cNvPr name="TextBox 3" id="3"/>
          <p:cNvSpPr txBox="true"/>
          <p:nvPr/>
        </p:nvSpPr>
        <p:spPr>
          <a:xfrm rot="0">
            <a:off x="5917704" y="212090"/>
            <a:ext cx="6452592" cy="1633220"/>
          </a:xfrm>
          <a:prstGeom prst="rect">
            <a:avLst/>
          </a:prstGeom>
        </p:spPr>
        <p:txBody>
          <a:bodyPr anchor="t" rtlCol="false" tIns="0" lIns="0" bIns="0" rIns="0">
            <a:spAutoFit/>
          </a:bodyPr>
          <a:lstStyle/>
          <a:p>
            <a:pPr algn="ctr">
              <a:lnSpc>
                <a:spcPts val="6160"/>
              </a:lnSpc>
            </a:pPr>
            <a:r>
              <a:rPr lang="en-US" b="true" sz="5600">
                <a:solidFill>
                  <a:srgbClr val="FFFFFF"/>
                </a:solidFill>
                <a:latin typeface="Poppins Bold"/>
                <a:ea typeface="Poppins Bold"/>
                <a:cs typeface="Poppins Bold"/>
                <a:sym typeface="Poppins Bold"/>
              </a:rPr>
              <a:t>EXECUTION CONT.</a:t>
            </a:r>
          </a:p>
          <a:p>
            <a:pPr algn="ctr">
              <a:lnSpc>
                <a:spcPts val="6160"/>
              </a:lnSpc>
              <a:spcBef>
                <a:spcPct val="0"/>
              </a:spcBef>
            </a:pPr>
          </a:p>
        </p:txBody>
      </p:sp>
      <p:sp>
        <p:nvSpPr>
          <p:cNvPr name="TextBox 4" id="4"/>
          <p:cNvSpPr txBox="true"/>
          <p:nvPr/>
        </p:nvSpPr>
        <p:spPr>
          <a:xfrm rot="0">
            <a:off x="771525" y="5153025"/>
            <a:ext cx="16744950" cy="4027806"/>
          </a:xfrm>
          <a:prstGeom prst="rect">
            <a:avLst/>
          </a:prstGeom>
        </p:spPr>
        <p:txBody>
          <a:bodyPr anchor="t" rtlCol="false" tIns="0" lIns="0" bIns="0" rIns="0">
            <a:spAutoFit/>
          </a:bodyPr>
          <a:lstStyle/>
          <a:p>
            <a:pPr algn="just" marL="626125" indent="-313063" lvl="1">
              <a:lnSpc>
                <a:spcPts val="3190"/>
              </a:lnSpc>
              <a:spcBef>
                <a:spcPct val="0"/>
              </a:spcBef>
              <a:buFont typeface="Arial"/>
              <a:buChar char="•"/>
            </a:pPr>
            <a:r>
              <a:rPr lang="en-US" b="true" sz="2900" strike="noStrike" u="sng">
                <a:solidFill>
                  <a:srgbClr val="FFFFFF"/>
                </a:solidFill>
                <a:latin typeface="Poppins Bold"/>
                <a:ea typeface="Poppins Bold"/>
                <a:cs typeface="Poppins Bold"/>
                <a:sym typeface="Poppins Bold"/>
              </a:rPr>
              <a:t>Product Development &amp; Testing (Month 2-5)</a:t>
            </a:r>
            <a:r>
              <a:rPr lang="en-US" sz="2900" strike="noStrike">
                <a:solidFill>
                  <a:srgbClr val="FFFFFF"/>
                </a:solidFill>
                <a:latin typeface="Poppins"/>
                <a:ea typeface="Poppins"/>
                <a:cs typeface="Poppins"/>
                <a:sym typeface="Poppins"/>
              </a:rPr>
              <a:t>- The website, and iOS &amp; Android applications will be developed by the engineering and UI design employees across global teams using GitHub for development collaboration, Slack for daily communication, emails for regular update sharing, and weekly scheduled virtual meetings.</a:t>
            </a:r>
          </a:p>
          <a:p>
            <a:pPr algn="just">
              <a:lnSpc>
                <a:spcPts val="3190"/>
              </a:lnSpc>
              <a:spcBef>
                <a:spcPct val="0"/>
              </a:spcBef>
            </a:pPr>
          </a:p>
          <a:p>
            <a:pPr algn="just" marL="626125" indent="-313063" lvl="1">
              <a:lnSpc>
                <a:spcPts val="3190"/>
              </a:lnSpc>
              <a:spcBef>
                <a:spcPct val="0"/>
              </a:spcBef>
              <a:buFont typeface="Arial"/>
              <a:buChar char="•"/>
            </a:pPr>
            <a:r>
              <a:rPr lang="en-US" sz="2900" strike="noStrike">
                <a:solidFill>
                  <a:srgbClr val="FFFFFF"/>
                </a:solidFill>
                <a:latin typeface="Poppins"/>
                <a:ea typeface="Poppins"/>
                <a:cs typeface="Poppins"/>
                <a:sym typeface="Poppins"/>
              </a:rPr>
              <a:t>Subsequent integration of Overlays, Scoring System, and Sponsor Logo display feature will be carried out following successful streaming platform development. Application development depends on interface design completion, and functional features development depends on website &amp; applications completion.</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917704" y="176530"/>
            <a:ext cx="6452592" cy="852170"/>
          </a:xfrm>
          <a:prstGeom prst="rect">
            <a:avLst/>
          </a:prstGeom>
        </p:spPr>
        <p:txBody>
          <a:bodyPr anchor="t" rtlCol="false" tIns="0" lIns="0" bIns="0" rIns="0">
            <a:spAutoFit/>
          </a:bodyPr>
          <a:lstStyle/>
          <a:p>
            <a:pPr algn="ctr">
              <a:lnSpc>
                <a:spcPts val="6160"/>
              </a:lnSpc>
              <a:spcBef>
                <a:spcPct val="0"/>
              </a:spcBef>
            </a:pPr>
            <a:r>
              <a:rPr lang="en-US" b="true" sz="5600">
                <a:solidFill>
                  <a:srgbClr val="FFFFFF"/>
                </a:solidFill>
                <a:latin typeface="Poppins Bold"/>
                <a:ea typeface="Poppins Bold"/>
                <a:cs typeface="Poppins Bold"/>
                <a:sym typeface="Poppins Bold"/>
              </a:rPr>
              <a:t>EXECUTION CONT.</a:t>
            </a:r>
          </a:p>
        </p:txBody>
      </p:sp>
      <p:sp>
        <p:nvSpPr>
          <p:cNvPr name="TextBox 3" id="3"/>
          <p:cNvSpPr txBox="true"/>
          <p:nvPr/>
        </p:nvSpPr>
        <p:spPr>
          <a:xfrm rot="0">
            <a:off x="586794" y="6059391"/>
            <a:ext cx="16893458" cy="4027806"/>
          </a:xfrm>
          <a:prstGeom prst="rect">
            <a:avLst/>
          </a:prstGeom>
        </p:spPr>
        <p:txBody>
          <a:bodyPr anchor="t" rtlCol="false" tIns="0" lIns="0" bIns="0" rIns="0">
            <a:spAutoFit/>
          </a:bodyPr>
          <a:lstStyle/>
          <a:p>
            <a:pPr algn="just" marL="626125" indent="-313063" lvl="1">
              <a:lnSpc>
                <a:spcPts val="3190"/>
              </a:lnSpc>
              <a:buFont typeface="Arial"/>
              <a:buChar char="•"/>
            </a:pPr>
            <a:r>
              <a:rPr lang="en-US" b="true" sz="2900" u="sng">
                <a:solidFill>
                  <a:srgbClr val="FFFFFF"/>
                </a:solidFill>
                <a:latin typeface="Poppins Bold"/>
                <a:ea typeface="Poppins Bold"/>
                <a:cs typeface="Poppins Bold"/>
                <a:sym typeface="Poppins Bold"/>
              </a:rPr>
              <a:t>Product Testing</a:t>
            </a:r>
            <a:r>
              <a:rPr lang="en-US" sz="2900">
                <a:solidFill>
                  <a:srgbClr val="FFFFFF"/>
                </a:solidFill>
                <a:latin typeface="Poppins"/>
                <a:ea typeface="Poppins"/>
                <a:cs typeface="Poppins"/>
                <a:sym typeface="Poppins"/>
              </a:rPr>
              <a:t>- </a:t>
            </a:r>
            <a:r>
              <a:rPr lang="en-US" sz="2900">
                <a:solidFill>
                  <a:srgbClr val="FFFFFF"/>
                </a:solidFill>
                <a:latin typeface="Poppins"/>
                <a:ea typeface="Poppins"/>
                <a:cs typeface="Poppins"/>
                <a:sym typeface="Poppins"/>
              </a:rPr>
              <a:t>The technology will be tested and </a:t>
            </a:r>
            <a:r>
              <a:rPr lang="en-US" b="true" sz="2900">
                <a:solidFill>
                  <a:srgbClr val="FFFFFF"/>
                </a:solidFill>
                <a:latin typeface="Poppins Bold"/>
                <a:ea typeface="Poppins Bold"/>
                <a:cs typeface="Poppins Bold"/>
                <a:sym typeface="Poppins Bold"/>
              </a:rPr>
              <a:t>quality reports, evaluation documents</a:t>
            </a:r>
            <a:r>
              <a:rPr lang="en-US" sz="2900">
                <a:solidFill>
                  <a:srgbClr val="FFFFFF"/>
                </a:solidFill>
                <a:latin typeface="Poppins"/>
                <a:ea typeface="Poppins"/>
                <a:cs typeface="Poppins"/>
                <a:sym typeface="Poppins"/>
              </a:rPr>
              <a:t> &amp; </a:t>
            </a:r>
            <a:r>
              <a:rPr lang="en-US" b="true" sz="2900">
                <a:solidFill>
                  <a:srgbClr val="FFFFFF"/>
                </a:solidFill>
                <a:latin typeface="Poppins Bold"/>
                <a:ea typeface="Poppins Bold"/>
                <a:cs typeface="Poppins Bold"/>
                <a:sym typeface="Poppins Bold"/>
              </a:rPr>
              <a:t>change requests</a:t>
            </a:r>
            <a:r>
              <a:rPr lang="en-US" sz="2900">
                <a:solidFill>
                  <a:srgbClr val="FFFFFF"/>
                </a:solidFill>
                <a:latin typeface="Poppins"/>
                <a:ea typeface="Poppins"/>
                <a:cs typeface="Poppins"/>
                <a:sym typeface="Poppins"/>
              </a:rPr>
              <a:t> will be created to ensure quality standards as planned, and any changes implemented via the planned change control process.</a:t>
            </a:r>
          </a:p>
          <a:p>
            <a:pPr algn="just">
              <a:lnSpc>
                <a:spcPts val="3190"/>
              </a:lnSpc>
            </a:pPr>
          </a:p>
          <a:p>
            <a:pPr algn="just" marL="626125" indent="-313063" lvl="1">
              <a:lnSpc>
                <a:spcPts val="3190"/>
              </a:lnSpc>
              <a:buFont typeface="Arial"/>
              <a:buChar char="•"/>
            </a:pPr>
            <a:r>
              <a:rPr lang="en-US" sz="2900">
                <a:solidFill>
                  <a:srgbClr val="FFFFFF"/>
                </a:solidFill>
                <a:latin typeface="Poppins"/>
                <a:ea typeface="Poppins"/>
                <a:cs typeface="Poppins"/>
                <a:sym typeface="Poppins"/>
              </a:rPr>
              <a:t>Stakeholders including the investors and team members will be updated on product status through Video Conferencing and Emails, handling time-zone and cultural differences as per communications plan, and stakeholder register will be updated regularly.</a:t>
            </a:r>
          </a:p>
          <a:p>
            <a:pPr algn="just">
              <a:lnSpc>
                <a:spcPts val="3190"/>
              </a:lnSpc>
            </a:pPr>
          </a:p>
          <a:p>
            <a:pPr algn="just">
              <a:lnSpc>
                <a:spcPts val="3190"/>
              </a:lnSpc>
            </a:pPr>
          </a:p>
        </p:txBody>
      </p:sp>
      <p:sp>
        <p:nvSpPr>
          <p:cNvPr name="TextBox 4" id="4"/>
          <p:cNvSpPr txBox="true"/>
          <p:nvPr/>
        </p:nvSpPr>
        <p:spPr>
          <a:xfrm rot="0">
            <a:off x="586794" y="2396244"/>
            <a:ext cx="16893458" cy="3227706"/>
          </a:xfrm>
          <a:prstGeom prst="rect">
            <a:avLst/>
          </a:prstGeom>
        </p:spPr>
        <p:txBody>
          <a:bodyPr anchor="t" rtlCol="false" tIns="0" lIns="0" bIns="0" rIns="0">
            <a:spAutoFit/>
          </a:bodyPr>
          <a:lstStyle/>
          <a:p>
            <a:pPr algn="just" marL="626125" indent="-313063" lvl="1">
              <a:lnSpc>
                <a:spcPts val="3190"/>
              </a:lnSpc>
              <a:spcBef>
                <a:spcPct val="0"/>
              </a:spcBef>
              <a:buFont typeface="Arial"/>
              <a:buChar char="•"/>
            </a:pPr>
            <a:r>
              <a:rPr lang="en-US" sz="2900" strike="noStrike">
                <a:solidFill>
                  <a:srgbClr val="FFFFFF"/>
                </a:solidFill>
                <a:latin typeface="Poppins"/>
                <a:ea typeface="Poppins"/>
                <a:cs typeface="Poppins"/>
                <a:sym typeface="Poppins"/>
              </a:rPr>
              <a:t>Team leaders will be responsible for implementation success of these features. Any </a:t>
            </a:r>
            <a:r>
              <a:rPr lang="en-US" b="true" sz="2900" strike="noStrike">
                <a:solidFill>
                  <a:srgbClr val="FFFFFF"/>
                </a:solidFill>
                <a:latin typeface="Poppins Bold"/>
                <a:ea typeface="Poppins Bold"/>
                <a:cs typeface="Poppins Bold"/>
                <a:sym typeface="Poppins Bold"/>
              </a:rPr>
              <a:t>risks encountered</a:t>
            </a:r>
            <a:r>
              <a:rPr lang="en-US" sz="2900" strike="noStrike">
                <a:solidFill>
                  <a:srgbClr val="FFFFFF"/>
                </a:solidFill>
                <a:latin typeface="Poppins"/>
                <a:ea typeface="Poppins"/>
                <a:cs typeface="Poppins"/>
                <a:sym typeface="Poppins"/>
              </a:rPr>
              <a:t> will be tackled with the risk management plan and added to risk register; </a:t>
            </a:r>
            <a:r>
              <a:rPr lang="en-US" b="true" sz="2900" strike="noStrike">
                <a:solidFill>
                  <a:srgbClr val="FFFFFF"/>
                </a:solidFill>
                <a:latin typeface="Poppins Bold"/>
                <a:ea typeface="Poppins Bold"/>
                <a:cs typeface="Poppins Bold"/>
                <a:sym typeface="Poppins Bold"/>
              </a:rPr>
              <a:t>lessons learned</a:t>
            </a:r>
            <a:r>
              <a:rPr lang="en-US" sz="2900" strike="noStrike">
                <a:solidFill>
                  <a:srgbClr val="FFFFFF"/>
                </a:solidFill>
                <a:latin typeface="Poppins"/>
                <a:ea typeface="Poppins"/>
                <a:cs typeface="Poppins"/>
                <a:sym typeface="Poppins"/>
              </a:rPr>
              <a:t> will be added to the lessons learned register during this technology development phase and shared across teams.</a:t>
            </a:r>
          </a:p>
          <a:p>
            <a:pPr algn="just">
              <a:lnSpc>
                <a:spcPts val="3190"/>
              </a:lnSpc>
              <a:spcBef>
                <a:spcPct val="0"/>
              </a:spcBef>
            </a:pPr>
          </a:p>
          <a:p>
            <a:pPr algn="just" marL="626125" indent="-313063" lvl="1">
              <a:lnSpc>
                <a:spcPts val="3190"/>
              </a:lnSpc>
              <a:spcBef>
                <a:spcPct val="0"/>
              </a:spcBef>
              <a:buFont typeface="Arial"/>
              <a:buChar char="•"/>
            </a:pPr>
            <a:r>
              <a:rPr lang="en-US" sz="2900" strike="noStrike">
                <a:solidFill>
                  <a:srgbClr val="FFFFFF"/>
                </a:solidFill>
                <a:latin typeface="Poppins"/>
                <a:ea typeface="Poppins"/>
                <a:cs typeface="Poppins"/>
                <a:sym typeface="Poppins"/>
              </a:rPr>
              <a:t>Feature development by global teams will utilize </a:t>
            </a:r>
            <a:r>
              <a:rPr lang="en-US" b="true" sz="2900" strike="noStrike">
                <a:solidFill>
                  <a:srgbClr val="FFFFFF"/>
                </a:solidFill>
                <a:latin typeface="Poppins Bold"/>
                <a:ea typeface="Poppins Bold"/>
                <a:cs typeface="Poppins Bold"/>
                <a:sym typeface="Poppins Bold"/>
              </a:rPr>
              <a:t>handovers</a:t>
            </a:r>
            <a:r>
              <a:rPr lang="en-US" sz="2900" strike="noStrike">
                <a:solidFill>
                  <a:srgbClr val="FFFFFF"/>
                </a:solidFill>
                <a:latin typeface="Poppins"/>
                <a:ea typeface="Poppins"/>
                <a:cs typeface="Poppins"/>
                <a:sym typeface="Poppins"/>
              </a:rPr>
              <a:t> to help meet time deadlines. Round the clock work through communication on emails, Slack, and Teams will further support development efficiency .</a:t>
            </a:r>
          </a:p>
        </p:txBody>
      </p:sp>
      <p:sp>
        <p:nvSpPr>
          <p:cNvPr name="TextBox 5" id="5"/>
          <p:cNvSpPr txBox="true"/>
          <p:nvPr/>
        </p:nvSpPr>
        <p:spPr>
          <a:xfrm rot="0">
            <a:off x="1028700" y="1483281"/>
            <a:ext cx="5733217" cy="477521"/>
          </a:xfrm>
          <a:prstGeom prst="rect">
            <a:avLst/>
          </a:prstGeom>
        </p:spPr>
        <p:txBody>
          <a:bodyPr anchor="t" rtlCol="false" tIns="0" lIns="0" bIns="0" rIns="0">
            <a:spAutoFit/>
          </a:bodyPr>
          <a:lstStyle/>
          <a:p>
            <a:pPr algn="ctr">
              <a:lnSpc>
                <a:spcPts val="3410"/>
              </a:lnSpc>
              <a:spcBef>
                <a:spcPct val="0"/>
              </a:spcBef>
            </a:pPr>
            <a:r>
              <a:rPr lang="en-US" b="true" sz="3100" u="sng">
                <a:solidFill>
                  <a:srgbClr val="FFFFFF"/>
                </a:solidFill>
                <a:latin typeface="Poppins Bold"/>
                <a:ea typeface="Poppins Bold"/>
                <a:cs typeface="Poppins Bold"/>
                <a:sym typeface="Poppins Bold"/>
              </a:rPr>
              <a:t>Product development cont.</a:t>
            </a:r>
            <a:r>
              <a:rPr lang="en-US" b="true" sz="3100">
                <a:solidFill>
                  <a:srgbClr val="FFFFFF"/>
                </a:solidFill>
                <a:latin typeface="Poppins Bold"/>
                <a:ea typeface="Poppins Bold"/>
                <a:cs typeface="Poppins Bold"/>
                <a:sym typeface="Poppins Bold"/>
              </a:rPr>
              <a:t>-</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83155" y="4391024"/>
            <a:ext cx="16976145" cy="5628006"/>
          </a:xfrm>
          <a:prstGeom prst="rect">
            <a:avLst/>
          </a:prstGeom>
        </p:spPr>
        <p:txBody>
          <a:bodyPr anchor="t" rtlCol="false" tIns="0" lIns="0" bIns="0" rIns="0">
            <a:spAutoFit/>
          </a:bodyPr>
          <a:lstStyle/>
          <a:p>
            <a:pPr algn="just" marL="626125" indent="-313063" lvl="1">
              <a:lnSpc>
                <a:spcPts val="3190"/>
              </a:lnSpc>
              <a:spcBef>
                <a:spcPct val="0"/>
              </a:spcBef>
              <a:buFont typeface="Arial"/>
              <a:buChar char="•"/>
            </a:pPr>
            <a:r>
              <a:rPr lang="en-US" b="true" sz="2900" u="sng">
                <a:solidFill>
                  <a:srgbClr val="FFFFFF"/>
                </a:solidFill>
                <a:latin typeface="Poppins Bold"/>
                <a:ea typeface="Poppins Bold"/>
                <a:cs typeface="Poppins Bold"/>
                <a:sym typeface="Poppins Bold"/>
              </a:rPr>
              <a:t>Marketing (Month 7)</a:t>
            </a:r>
            <a:r>
              <a:rPr lang="en-US" sz="2900">
                <a:solidFill>
                  <a:srgbClr val="FFFFFF"/>
                </a:solidFill>
                <a:latin typeface="Poppins"/>
                <a:ea typeface="Poppins"/>
                <a:cs typeface="Poppins"/>
                <a:sym typeface="Poppins"/>
              </a:rPr>
              <a:t>- </a:t>
            </a:r>
            <a:r>
              <a:rPr lang="en-US" b="true" sz="2900">
                <a:solidFill>
                  <a:srgbClr val="FFFFFF"/>
                </a:solidFill>
                <a:latin typeface="Poppins Bold"/>
                <a:ea typeface="Poppins Bold"/>
                <a:cs typeface="Poppins Bold"/>
                <a:sym typeface="Poppins Bold"/>
              </a:rPr>
              <a:t>$1.8M funds </a:t>
            </a:r>
            <a:r>
              <a:rPr lang="en-US" sz="2900">
                <a:solidFill>
                  <a:srgbClr val="FFFFFF"/>
                </a:solidFill>
                <a:latin typeface="Poppins"/>
                <a:ea typeface="Poppins"/>
                <a:cs typeface="Poppins"/>
                <a:sym typeface="Poppins"/>
              </a:rPr>
              <a:t>will be acquired for first year marketing phase needs. Another round of resource acquisition will create the marketing team, with international partners including social media influencers selected virtually and advertising adapted in local languages and preferences to ensure global success. </a:t>
            </a:r>
            <a:r>
              <a:rPr lang="en-US" b="true" sz="2900">
                <a:solidFill>
                  <a:srgbClr val="FFFFFF"/>
                </a:solidFill>
                <a:latin typeface="Poppins Bold"/>
                <a:ea typeface="Poppins Bold"/>
                <a:cs typeface="Poppins Bold"/>
                <a:sym typeface="Poppins Bold"/>
              </a:rPr>
              <a:t>Digital marketing- SEO, Social Media ads, and PPC</a:t>
            </a:r>
            <a:r>
              <a:rPr lang="en-US" sz="2900">
                <a:solidFill>
                  <a:srgbClr val="FFFFFF"/>
                </a:solidFill>
                <a:latin typeface="Poppins"/>
                <a:ea typeface="Poppins"/>
                <a:cs typeface="Poppins"/>
                <a:sym typeface="Poppins"/>
              </a:rPr>
              <a:t> will be utilized to create brand awareness before product launch. </a:t>
            </a:r>
            <a:r>
              <a:rPr lang="en-US" b="true" sz="2900" u="sng">
                <a:solidFill>
                  <a:srgbClr val="FFFFFF"/>
                </a:solidFill>
                <a:latin typeface="Poppins Bold"/>
                <a:ea typeface="Poppins Bold"/>
                <a:cs typeface="Poppins Bold"/>
                <a:sym typeface="Poppins Bold"/>
              </a:rPr>
              <a:t>Target</a:t>
            </a:r>
            <a:r>
              <a:rPr lang="en-US" b="true" sz="2900">
                <a:solidFill>
                  <a:srgbClr val="FFFFFF"/>
                </a:solidFill>
                <a:latin typeface="Poppins Bold"/>
                <a:ea typeface="Poppins Bold"/>
                <a:cs typeface="Poppins Bold"/>
                <a:sym typeface="Poppins Bold"/>
              </a:rPr>
              <a:t>-</a:t>
            </a:r>
            <a:r>
              <a:rPr lang="en-US" sz="2900">
                <a:solidFill>
                  <a:srgbClr val="FFFFFF"/>
                </a:solidFill>
                <a:latin typeface="Poppins"/>
                <a:ea typeface="Poppins"/>
                <a:cs typeface="Poppins"/>
                <a:sym typeface="Poppins"/>
              </a:rPr>
              <a:t> establishing broadcasting partnerships with sports organizations and university leagues.</a:t>
            </a:r>
          </a:p>
          <a:p>
            <a:pPr algn="just">
              <a:lnSpc>
                <a:spcPts val="3190"/>
              </a:lnSpc>
              <a:spcBef>
                <a:spcPct val="0"/>
              </a:spcBef>
            </a:pPr>
          </a:p>
          <a:p>
            <a:pPr algn="just" marL="626125" indent="-313063" lvl="1">
              <a:lnSpc>
                <a:spcPts val="3190"/>
              </a:lnSpc>
              <a:spcBef>
                <a:spcPct val="0"/>
              </a:spcBef>
              <a:buFont typeface="Arial"/>
              <a:buChar char="•"/>
            </a:pPr>
            <a:r>
              <a:rPr lang="en-US" b="true" sz="2900" u="sng">
                <a:solidFill>
                  <a:srgbClr val="FFFFFF"/>
                </a:solidFill>
                <a:latin typeface="Poppins Bold"/>
                <a:ea typeface="Poppins Bold"/>
                <a:cs typeface="Poppins Bold"/>
                <a:sym typeface="Poppins Bold"/>
              </a:rPr>
              <a:t>Customer Support team</a:t>
            </a:r>
            <a:r>
              <a:rPr lang="en-US" sz="2900">
                <a:solidFill>
                  <a:srgbClr val="FFFFFF"/>
                </a:solidFill>
                <a:latin typeface="Poppins"/>
                <a:ea typeface="Poppins"/>
                <a:cs typeface="Poppins"/>
                <a:sym typeface="Poppins"/>
              </a:rPr>
              <a:t> will be created through recruitment for the office in US and through outsourcing agreements in international markets, following more financing for this phase. The customer support teams will be trained on product technology and cultural sensitivity by regional heads and team members via in-person meets and virtual meetings.</a:t>
            </a:r>
          </a:p>
          <a:p>
            <a:pPr algn="just">
              <a:lnSpc>
                <a:spcPts val="3190"/>
              </a:lnSpc>
              <a:spcBef>
                <a:spcPct val="0"/>
              </a:spcBef>
            </a:pPr>
          </a:p>
        </p:txBody>
      </p:sp>
      <p:sp>
        <p:nvSpPr>
          <p:cNvPr name="TextBox 3" id="3"/>
          <p:cNvSpPr txBox="true"/>
          <p:nvPr/>
        </p:nvSpPr>
        <p:spPr>
          <a:xfrm rot="0">
            <a:off x="5917704" y="176530"/>
            <a:ext cx="6452592" cy="852170"/>
          </a:xfrm>
          <a:prstGeom prst="rect">
            <a:avLst/>
          </a:prstGeom>
        </p:spPr>
        <p:txBody>
          <a:bodyPr anchor="t" rtlCol="false" tIns="0" lIns="0" bIns="0" rIns="0">
            <a:spAutoFit/>
          </a:bodyPr>
          <a:lstStyle/>
          <a:p>
            <a:pPr algn="ctr">
              <a:lnSpc>
                <a:spcPts val="6160"/>
              </a:lnSpc>
              <a:spcBef>
                <a:spcPct val="0"/>
              </a:spcBef>
            </a:pPr>
            <a:r>
              <a:rPr lang="en-US" b="true" sz="5600">
                <a:solidFill>
                  <a:srgbClr val="FFFFFF"/>
                </a:solidFill>
                <a:latin typeface="Poppins Bold"/>
                <a:ea typeface="Poppins Bold"/>
                <a:cs typeface="Poppins Bold"/>
                <a:sym typeface="Poppins Bold"/>
              </a:rPr>
              <a:t>EXECUTION CONT.</a:t>
            </a:r>
          </a:p>
        </p:txBody>
      </p:sp>
      <p:sp>
        <p:nvSpPr>
          <p:cNvPr name="TextBox 4" id="4"/>
          <p:cNvSpPr txBox="true"/>
          <p:nvPr/>
        </p:nvSpPr>
        <p:spPr>
          <a:xfrm rot="0">
            <a:off x="283155" y="1230485"/>
            <a:ext cx="16976145" cy="2427606"/>
          </a:xfrm>
          <a:prstGeom prst="rect">
            <a:avLst/>
          </a:prstGeom>
        </p:spPr>
        <p:txBody>
          <a:bodyPr anchor="t" rtlCol="false" tIns="0" lIns="0" bIns="0" rIns="0">
            <a:spAutoFit/>
          </a:bodyPr>
          <a:lstStyle/>
          <a:p>
            <a:pPr algn="just" marL="626125" indent="-313063" lvl="1">
              <a:lnSpc>
                <a:spcPts val="3190"/>
              </a:lnSpc>
              <a:spcBef>
                <a:spcPct val="0"/>
              </a:spcBef>
              <a:buFont typeface="Arial"/>
              <a:buChar char="•"/>
            </a:pPr>
            <a:r>
              <a:rPr lang="en-US" b="true" sz="2900" strike="noStrike" u="sng">
                <a:solidFill>
                  <a:srgbClr val="FFFFFF"/>
                </a:solidFill>
                <a:latin typeface="Poppins Bold"/>
                <a:ea typeface="Poppins Bold"/>
                <a:cs typeface="Poppins Bold"/>
                <a:sym typeface="Poppins Bold"/>
              </a:rPr>
              <a:t>Regulatory approvals (Month 6)</a:t>
            </a:r>
            <a:r>
              <a:rPr lang="en-US" sz="2900" strike="noStrike">
                <a:solidFill>
                  <a:srgbClr val="FFFFFF"/>
                </a:solidFill>
                <a:latin typeface="Poppins"/>
                <a:ea typeface="Poppins"/>
                <a:cs typeface="Poppins"/>
                <a:sym typeface="Poppins"/>
              </a:rPr>
              <a:t>- This phase follows successful product development and testing, and is a dependency for marketing and product launch phases. Regulatory and legal consultants will be onboarded for contract reviews, copyright compliance, adhering to international regulations, and getting the </a:t>
            </a:r>
            <a:r>
              <a:rPr lang="en-US" b="true" sz="2900" strike="noStrike">
                <a:solidFill>
                  <a:srgbClr val="FFFFFF"/>
                </a:solidFill>
                <a:latin typeface="Poppins Bold"/>
                <a:ea typeface="Poppins Bold"/>
                <a:cs typeface="Poppins Bold"/>
                <a:sym typeface="Poppins Bold"/>
              </a:rPr>
              <a:t>GDPR, COPPA, other international broadcasting approvals</a:t>
            </a:r>
            <a:r>
              <a:rPr lang="en-US" sz="2900" strike="noStrike">
                <a:solidFill>
                  <a:srgbClr val="FFFFFF"/>
                </a:solidFill>
                <a:latin typeface="Poppins"/>
                <a:ea typeface="Poppins"/>
                <a:cs typeface="Poppins"/>
                <a:sym typeface="Poppins"/>
              </a:rPr>
              <a:t> on time, utilizing the allocated buffer time to accommodate any delays due to distinct international requirements and procedures.</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42194" y="1114099"/>
            <a:ext cx="17003611" cy="8511731"/>
          </a:xfrm>
          <a:prstGeom prst="rect">
            <a:avLst/>
          </a:prstGeom>
        </p:spPr>
        <p:txBody>
          <a:bodyPr anchor="t" rtlCol="false" tIns="0" lIns="0" bIns="0" rIns="0">
            <a:spAutoFit/>
          </a:bodyPr>
          <a:lstStyle/>
          <a:p>
            <a:pPr algn="just" marL="626109" indent="-313054" lvl="1">
              <a:lnSpc>
                <a:spcPts val="4726"/>
              </a:lnSpc>
              <a:buFont typeface="Arial"/>
              <a:buChar char="•"/>
            </a:pPr>
            <a:r>
              <a:rPr lang="en-US" b="true" sz="2899" u="sng">
                <a:solidFill>
                  <a:srgbClr val="FFFFFF"/>
                </a:solidFill>
                <a:latin typeface="Poppins Bold"/>
                <a:ea typeface="Poppins Bold"/>
                <a:cs typeface="Poppins Bold"/>
                <a:sym typeface="Poppins Bold"/>
              </a:rPr>
              <a:t>Product Launch (Month 8)</a:t>
            </a:r>
            <a:r>
              <a:rPr lang="en-US" sz="2899">
                <a:solidFill>
                  <a:srgbClr val="FFFFFF"/>
                </a:solidFill>
                <a:latin typeface="Poppins"/>
                <a:ea typeface="Poppins"/>
                <a:cs typeface="Poppins"/>
                <a:sym typeface="Poppins"/>
              </a:rPr>
              <a:t>- </a:t>
            </a:r>
          </a:p>
          <a:p>
            <a:pPr algn="just" marL="626109" indent="-313054" lvl="1">
              <a:lnSpc>
                <a:spcPts val="3189"/>
              </a:lnSpc>
              <a:buFont typeface="Arial"/>
              <a:buChar char="•"/>
            </a:pPr>
            <a:r>
              <a:rPr lang="en-US" sz="2899">
                <a:solidFill>
                  <a:srgbClr val="FFFFFF"/>
                </a:solidFill>
                <a:latin typeface="Poppins"/>
                <a:ea typeface="Poppins"/>
                <a:cs typeface="Poppins"/>
                <a:sym typeface="Poppins"/>
              </a:rPr>
              <a:t>Final Review and stakeholder approvals will be conducted before product launch to ensure adherence to the project management plan and meeting the deliverable needs as per planned standards- </a:t>
            </a:r>
            <a:r>
              <a:rPr lang="en-US" b="true" sz="2899">
                <a:solidFill>
                  <a:srgbClr val="FFFFFF"/>
                </a:solidFill>
                <a:latin typeface="Poppins Bold"/>
                <a:ea typeface="Poppins Bold"/>
                <a:cs typeface="Poppins Bold"/>
                <a:sym typeface="Poppins Bold"/>
              </a:rPr>
              <a:t>Scope Validation.</a:t>
            </a:r>
          </a:p>
          <a:p>
            <a:pPr algn="just">
              <a:lnSpc>
                <a:spcPts val="3189"/>
              </a:lnSpc>
            </a:pPr>
          </a:p>
          <a:p>
            <a:pPr algn="just" marL="626109" indent="-313054" lvl="1">
              <a:lnSpc>
                <a:spcPts val="3189"/>
              </a:lnSpc>
              <a:buFont typeface="Arial"/>
              <a:buChar char="•"/>
            </a:pPr>
            <a:r>
              <a:rPr lang="en-US" b="true" sz="2899">
                <a:solidFill>
                  <a:srgbClr val="FFFFFF"/>
                </a:solidFill>
                <a:latin typeface="Poppins Bold"/>
                <a:ea typeface="Poppins Bold"/>
                <a:cs typeface="Poppins Bold"/>
                <a:sym typeface="Poppins Bold"/>
              </a:rPr>
              <a:t>Product launch</a:t>
            </a:r>
            <a:r>
              <a:rPr lang="en-US" sz="2899">
                <a:solidFill>
                  <a:srgbClr val="FFFFFF"/>
                </a:solidFill>
                <a:latin typeface="Poppins"/>
                <a:ea typeface="Poppins"/>
                <a:cs typeface="Poppins"/>
                <a:sym typeface="Poppins"/>
              </a:rPr>
              <a:t> will be conducted in phases, targeting more dominant markets of North America first, monitoring the </a:t>
            </a:r>
            <a:r>
              <a:rPr lang="en-US" b="true" sz="2899">
                <a:solidFill>
                  <a:srgbClr val="FFFFFF"/>
                </a:solidFill>
                <a:latin typeface="Poppins Bold"/>
                <a:ea typeface="Poppins Bold"/>
                <a:cs typeface="Poppins Bold"/>
                <a:sym typeface="Poppins Bold"/>
              </a:rPr>
              <a:t>live streaming functionality</a:t>
            </a:r>
            <a:r>
              <a:rPr lang="en-US" sz="2899">
                <a:solidFill>
                  <a:srgbClr val="FFFFFF"/>
                </a:solidFill>
                <a:latin typeface="Poppins"/>
                <a:ea typeface="Poppins"/>
                <a:cs typeface="Poppins"/>
                <a:sym typeface="Poppins"/>
              </a:rPr>
              <a:t> and the </a:t>
            </a:r>
            <a:r>
              <a:rPr lang="en-US" b="true" sz="2899">
                <a:solidFill>
                  <a:srgbClr val="FFFFFF"/>
                </a:solidFill>
                <a:latin typeface="Poppins Bold"/>
                <a:ea typeface="Poppins Bold"/>
                <a:cs typeface="Poppins Bold"/>
                <a:sym typeface="Poppins Bold"/>
              </a:rPr>
              <a:t>functional features</a:t>
            </a:r>
            <a:r>
              <a:rPr lang="en-US" sz="2899">
                <a:solidFill>
                  <a:srgbClr val="FFFFFF"/>
                </a:solidFill>
                <a:latin typeface="Poppins"/>
                <a:ea typeface="Poppins"/>
                <a:cs typeface="Poppins"/>
                <a:sym typeface="Poppins"/>
              </a:rPr>
              <a:t> of overlays, scoring system and clip sharing, followed by gathering user feedback and refining features for better user experience.</a:t>
            </a:r>
          </a:p>
          <a:p>
            <a:pPr algn="just">
              <a:lnSpc>
                <a:spcPts val="3189"/>
              </a:lnSpc>
            </a:pPr>
          </a:p>
          <a:p>
            <a:pPr algn="just" marL="626109" indent="-313054" lvl="1">
              <a:lnSpc>
                <a:spcPts val="5016"/>
              </a:lnSpc>
              <a:buFont typeface="Arial"/>
              <a:buChar char="•"/>
            </a:pPr>
            <a:r>
              <a:rPr lang="en-US" b="true" sz="2899" u="sng">
                <a:solidFill>
                  <a:srgbClr val="FFFFFF"/>
                </a:solidFill>
                <a:latin typeface="Poppins Bold"/>
                <a:ea typeface="Poppins Bold"/>
                <a:cs typeface="Poppins Bold"/>
                <a:sym typeface="Poppins Bold"/>
              </a:rPr>
              <a:t>Post-launch &amp; Operations (Month 9-12)</a:t>
            </a:r>
            <a:r>
              <a:rPr lang="en-US" sz="2899">
                <a:solidFill>
                  <a:srgbClr val="FFFFFF"/>
                </a:solidFill>
                <a:latin typeface="Poppins"/>
                <a:ea typeface="Poppins"/>
                <a:cs typeface="Poppins"/>
                <a:sym typeface="Poppins"/>
              </a:rPr>
              <a:t>- </a:t>
            </a:r>
          </a:p>
          <a:p>
            <a:pPr algn="just" marL="626109" indent="-313054" lvl="1">
              <a:lnSpc>
                <a:spcPts val="3189"/>
              </a:lnSpc>
              <a:buFont typeface="Arial"/>
              <a:buChar char="•"/>
            </a:pPr>
            <a:r>
              <a:rPr lang="en-US" sz="2899">
                <a:solidFill>
                  <a:srgbClr val="FFFFFF"/>
                </a:solidFill>
                <a:latin typeface="Poppins"/>
                <a:ea typeface="Poppins"/>
                <a:cs typeface="Poppins"/>
                <a:sym typeface="Poppins"/>
              </a:rPr>
              <a:t>Further product launch will be carried out in Asia, Africa and Latin America following any suitable changes to the product through formal procedures. Stakeholders including the investors, teams, and customers including schools/colleges and professional and recreational sports teams will be engaged through regular emails, virtual meets on planned platforms, and face-to-face meetings when needed.</a:t>
            </a:r>
          </a:p>
          <a:p>
            <a:pPr algn="just">
              <a:lnSpc>
                <a:spcPts val="3189"/>
              </a:lnSpc>
            </a:pPr>
          </a:p>
          <a:p>
            <a:pPr algn="just" marL="626109" indent="-313054" lvl="1">
              <a:lnSpc>
                <a:spcPts val="3189"/>
              </a:lnSpc>
              <a:buFont typeface="Arial"/>
              <a:buChar char="•"/>
            </a:pPr>
            <a:r>
              <a:rPr lang="en-US" sz="2899">
                <a:solidFill>
                  <a:srgbClr val="FFFFFF"/>
                </a:solidFill>
                <a:latin typeface="Poppins"/>
                <a:ea typeface="Poppins"/>
                <a:cs typeface="Poppins"/>
                <a:sym typeface="Poppins"/>
              </a:rPr>
              <a:t>Following successful launch and product sales, further </a:t>
            </a:r>
            <a:r>
              <a:rPr lang="en-US" b="true" sz="2899">
                <a:solidFill>
                  <a:srgbClr val="FFFFFF"/>
                </a:solidFill>
                <a:latin typeface="Poppins Bold"/>
                <a:ea typeface="Poppins Bold"/>
                <a:cs typeface="Poppins Bold"/>
                <a:sym typeface="Poppins Bold"/>
              </a:rPr>
              <a:t>financing of $2M per year</a:t>
            </a:r>
            <a:r>
              <a:rPr lang="en-US" sz="2899">
                <a:solidFill>
                  <a:srgbClr val="FFFFFF"/>
                </a:solidFill>
                <a:latin typeface="Poppins"/>
                <a:ea typeface="Poppins"/>
                <a:cs typeface="Poppins"/>
                <a:sym typeface="Poppins"/>
              </a:rPr>
              <a:t> will be utilized for ongoing operational costs involved in product maintenance and improvement, marketing, and international fees associated with tariffs and logistics. </a:t>
            </a:r>
          </a:p>
        </p:txBody>
      </p:sp>
      <p:sp>
        <p:nvSpPr>
          <p:cNvPr name="TextBox 3" id="3"/>
          <p:cNvSpPr txBox="true"/>
          <p:nvPr/>
        </p:nvSpPr>
        <p:spPr>
          <a:xfrm rot="0">
            <a:off x="5917704" y="176530"/>
            <a:ext cx="6452592" cy="852170"/>
          </a:xfrm>
          <a:prstGeom prst="rect">
            <a:avLst/>
          </a:prstGeom>
        </p:spPr>
        <p:txBody>
          <a:bodyPr anchor="t" rtlCol="false" tIns="0" lIns="0" bIns="0" rIns="0">
            <a:spAutoFit/>
          </a:bodyPr>
          <a:lstStyle/>
          <a:p>
            <a:pPr algn="ctr">
              <a:lnSpc>
                <a:spcPts val="6160"/>
              </a:lnSpc>
              <a:spcBef>
                <a:spcPct val="0"/>
              </a:spcBef>
            </a:pPr>
            <a:r>
              <a:rPr lang="en-US" b="true" sz="5600">
                <a:solidFill>
                  <a:srgbClr val="FFFFFF"/>
                </a:solidFill>
                <a:latin typeface="Poppins Bold"/>
                <a:ea typeface="Poppins Bold"/>
                <a:cs typeface="Poppins Bold"/>
                <a:sym typeface="Poppins Bold"/>
              </a:rPr>
              <a:t>EXECUTION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DAGRVRlDVNs</dc:identifier>
  <dcterms:modified xsi:type="dcterms:W3CDTF">2011-08-01T06:04:30Z</dcterms:modified>
  <cp:revision>1</cp:revision>
  <dc:title>Global Project Management</dc:title>
</cp:coreProperties>
</file>